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  <p:sldMasterId id="2147483733" r:id="rId2"/>
  </p:sldMasterIdLst>
  <p:notesMasterIdLst>
    <p:notesMasterId r:id="rId22"/>
  </p:notesMasterIdLst>
  <p:sldIdLst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4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B3B-E091-4218-B734-7F09C964D9E9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04874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5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5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5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2D287-CFE8-45F7-B578-1940EAB6BD4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8" name="Subtitle 2"/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2" name="Straight Connector 8"/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Straight Connector 9"/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Straight Connector 18"/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6" name="Content Placeholder 2"/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Title 1"/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0" name="Text Placeholder 2"/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44" name="Straight Connector 6"/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5" name="Straight Connector 9"/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6" name="Straight Connector 11"/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6" name="Content Placeholder 2"/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37" name="Content Placeholder 3"/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50" name="Straight Connector 10"/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Title 1"/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5" name="Text Placeholder 2"/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6" name="Content Placeholder 3"/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Content Placeholder 5"/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47" name="Straight Connector 10"/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8" name="Straight Connector 11"/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5" name="Straight Connector 6"/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Straight Connector 7"/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Title 1"/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2" name="Content Placeholder 2"/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43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51" name="Straight Connector 7"/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Straight Connector 8"/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3" name="Straight Connector 9"/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Straight Connector 10"/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4" name="Picture Placeholder 2"/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705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40" name="Straight Connector 7"/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Straight Connector 9"/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Straight Connector 14"/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3" name="Straight Connector 11"/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3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49" name="Straight Connector 6"/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Vertical Title 1"/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7" name="Straight Connector 6"/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Straight Connector 7"/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Straight Connector 8"/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Content Placeholder 2"/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697" name="Title 1"/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2097155" name="Picture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2097156" name="Picture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8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65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353456"/>
            <a:ext cx="12218977" cy="521007"/>
          </a:xfrm>
          <a:prstGeom prst="rect">
            <a:avLst/>
          </a:prstGeom>
        </p:spPr>
      </p:pic>
      <p:sp>
        <p:nvSpPr>
          <p:cNvPr id="1048591" name="Content Placeholder 2"/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48592" name="Title 1"/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2097154" name="Picture 5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  <p:sp>
        <p:nvSpPr>
          <p:cNvPr id="104859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525814"/>
            <a:ext cx="571499" cy="365125"/>
          </a:xfr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48594" name="Slide Number Placeholder 6"/>
          <p:cNvSpPr txBox="1"/>
          <p:nvPr userDrawn="1"/>
        </p:nvSpPr>
        <p:spPr>
          <a:xfrm>
            <a:off x="401263" y="6525813"/>
            <a:ext cx="1587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19"/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Connector 7"/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Straight Connector 8"/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9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4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2097152" name="Picture 6" descr="A picture containing drawing  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145731" name="Straight Connector 2"/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8582" name="TextBox 1"/>
          <p:cNvSpPr txBox="1"/>
          <p:nvPr/>
        </p:nvSpPr>
        <p:spPr>
          <a:xfrm>
            <a:off x="5102634" y="2514600"/>
            <a:ext cx="6492240" cy="1188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457200"/>
            <a:r>
              <a:rPr lang="en-US" sz="2600" b="1" dirty="0">
                <a:solidFill>
                  <a:schemeClr val="bg1"/>
                </a:solidFill>
                <a:latin typeface="Segoe UI"/>
                <a:cs typeface="Segoe UI"/>
              </a:rPr>
              <a:t>Cross-Layer Verification of an Untrusted IoT Gateway</a:t>
            </a:r>
            <a:endParaRPr lang="en-US" sz="4000" b="1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r>
              <a:rPr sz="1500" i="1">
                <a:solidFill>
                  <a:srgbClr val="FFFFFF"/>
                </a:solidFill>
                <a:latin typeface="Calibri"/>
              </a:rPr>
              <a:t>Detecting a compromised smart-home hub with an independent radio witness</a:t>
            </a:r>
          </a:p>
        </p:txBody>
      </p:sp>
      <p:sp>
        <p:nvSpPr>
          <p:cNvPr id="1048583" name="TextBox 3"/>
          <p:cNvSpPr txBox="1"/>
          <p:nvPr/>
        </p:nvSpPr>
        <p:spPr>
          <a:xfrm>
            <a:off x="5102352" y="4892040"/>
            <a:ext cx="6492240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Bhaskar S L   ·   AM.SC.U4CYS23017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Arjun S   ·   AM.SC.U4CYS23012</a:t>
            </a:r>
          </a:p>
        </p:txBody>
      </p:sp>
      <p:sp>
        <p:nvSpPr>
          <p:cNvPr id="1048584" name="TextBox 9"/>
          <p:cNvSpPr txBox="1"/>
          <p:nvPr/>
        </p:nvSpPr>
        <p:spPr>
          <a:xfrm>
            <a:off x="5017442" y="3703320"/>
            <a:ext cx="6492240" cy="10926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IN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Kurunandan</a:t>
            </a:r>
            <a:r>
              <a:rPr lang="en-IN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Jain</a:t>
            </a:r>
          </a:p>
          <a:p>
            <a:pPr algn="ctr"/>
            <a:endParaRPr lang="en-IN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Mentored by </a:t>
            </a:r>
          </a:p>
          <a:p>
            <a:pPr algn="ctr"/>
            <a:r>
              <a:rPr lang="en-IN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Raja</a:t>
            </a:r>
          </a:p>
        </p:txBody>
      </p:sp>
      <p:sp>
        <p:nvSpPr>
          <p:cNvPr id="1048585" name="TextBox 7"/>
          <p:cNvSpPr txBox="1"/>
          <p:nvPr/>
        </p:nvSpPr>
        <p:spPr>
          <a:xfrm>
            <a:off x="4857469" y="1489335"/>
            <a:ext cx="611805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457200"/>
            <a:r>
              <a:rPr lang="en-US" sz="1800" b="1" dirty="0">
                <a:solidFill>
                  <a:schemeClr val="bg1"/>
                </a:solidFill>
                <a:latin typeface="Arial Narrow" panose="020B0606020202030204" pitchFamily="34" charset="0"/>
                <a:cs typeface="Segoe UI"/>
              </a:rPr>
              <a:t>S7 PROJECT MID </a:t>
            </a:r>
            <a:r>
              <a:rPr lang="en-US" sz="1800" b="1">
                <a:solidFill>
                  <a:schemeClr val="bg1"/>
                </a:solidFill>
                <a:latin typeface="Arial Narrow" panose="020B0606020202030204" pitchFamily="34" charset="0"/>
                <a:cs typeface="Segoe UI"/>
              </a:rPr>
              <a:t>REVIEW  </a:t>
            </a:r>
            <a:endParaRPr lang="en-U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Content Placeholder 1"/>
          <p:cNvSpPr>
            <a:spLocks noGrp="1"/>
          </p:cNvSpPr>
          <p:nvPr>
            <p:ph idx="1"/>
          </p:nvPr>
        </p:nvSpPr>
        <p:spPr>
          <a:xfrm>
            <a:off x="571499" y="964096"/>
            <a:ext cx="11209376" cy="5081242"/>
          </a:xfrm>
        </p:spPr>
        <p:txBody>
          <a:bodyPr>
            <a:normAutofit/>
          </a:bodyPr>
          <a:lstStyle/>
          <a:p>
            <a:r>
              <a:rPr lang="en-IN" sz="2000" dirty="0"/>
              <a:t>Introduction</a:t>
            </a:r>
          </a:p>
          <a:p>
            <a:r>
              <a:rPr lang="en-IN" sz="2000" dirty="0"/>
              <a:t>Problem Definition</a:t>
            </a:r>
          </a:p>
          <a:p>
            <a:r>
              <a:rPr lang="en-IN" sz="2000" dirty="0"/>
              <a:t>Literature Review Summary</a:t>
            </a:r>
          </a:p>
          <a:p>
            <a:r>
              <a:rPr lang="en-IN" sz="2000" dirty="0"/>
              <a:t>Research Gap</a:t>
            </a:r>
          </a:p>
          <a:p>
            <a:r>
              <a:rPr lang="en-IN" sz="2000" dirty="0"/>
              <a:t>Methodology</a:t>
            </a:r>
          </a:p>
          <a:p>
            <a:r>
              <a:rPr lang="en-IN" sz="2000" dirty="0"/>
              <a:t>Design / Architecture</a:t>
            </a:r>
          </a:p>
          <a:p>
            <a:r>
              <a:rPr lang="en-IN" sz="2000" dirty="0"/>
              <a:t>Algorithms</a:t>
            </a:r>
          </a:p>
          <a:p>
            <a:r>
              <a:rPr lang="en-IN" sz="2000" dirty="0"/>
              <a:t>Result Analysis  —  real captures (ZIOTP2025), injected attacks, baselines, detection floor, live demo</a:t>
            </a:r>
          </a:p>
          <a:p>
            <a:r>
              <a:rPr lang="en-IN" sz="2000" dirty="0"/>
              <a:t>Project Time Line (Plan)</a:t>
            </a:r>
          </a:p>
          <a:p>
            <a:r>
              <a:rPr lang="en-IN" sz="2000" dirty="0"/>
              <a:t>References</a:t>
            </a:r>
          </a:p>
        </p:txBody>
      </p:sp>
      <p:sp>
        <p:nvSpPr>
          <p:cNvPr id="104859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1048598" name="TextBox 5"/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>
                    <a:lumMod val="85000"/>
                  </a:schemeClr>
                </a:solidFill>
              </a:rPr>
              <a:t>Cross-Layer Verification of an Untrusted IoT Gateway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sp>
        <p:nvSpPr>
          <p:cNvPr id="1048599" name="TextBox 1048598"/>
          <p:cNvSpPr txBox="1"/>
          <p:nvPr/>
        </p:nvSpPr>
        <p:spPr>
          <a:xfrm>
            <a:off x="566928" y="1005840"/>
            <a:ext cx="11210544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1000"/>
              </a:spcAft>
              <a:buChar char="•"/>
            </a:pPr>
            <a:r>
              <a:rPr sz="1700" b="0" i="0">
                <a:solidFill>
                  <a:srgbClr val="243741"/>
                </a:solidFill>
                <a:latin typeface="Calibri"/>
              </a:rPr>
              <a:t>Zigbee / Thread / Matter devices cannot reach the internet — every one of them speaks 802.15.4 to a </a:t>
            </a:r>
            <a:r>
              <a:rPr sz="1700" b="1" i="0">
                <a:solidFill>
                  <a:srgbClr val="243741"/>
                </a:solidFill>
                <a:latin typeface="Calibri"/>
              </a:rPr>
              <a:t>gateway</a:t>
            </a:r>
          </a:p>
          <a:p>
            <a:pPr marL="201168" indent="-182880" algn="l">
              <a:spcAft>
                <a:spcPts val="1000"/>
              </a:spcAft>
              <a:buChar char="•"/>
            </a:pPr>
            <a:r>
              <a:rPr sz="1700" b="0" i="0">
                <a:solidFill>
                  <a:srgbClr val="243741"/>
                </a:solidFill>
                <a:latin typeface="Calibri"/>
              </a:rPr>
              <a:t>The gateway is the </a:t>
            </a:r>
            <a:r>
              <a:rPr sz="1700" b="1" i="0">
                <a:solidFill>
                  <a:srgbClr val="243741"/>
                </a:solidFill>
                <a:latin typeface="Calibri"/>
              </a:rPr>
              <a:t>only entity that sees both domains</a:t>
            </a:r>
            <a:r>
              <a:rPr sz="1700" b="0" i="0">
                <a:solidFill>
                  <a:srgbClr val="243741"/>
                </a:solidFill>
                <a:latin typeface="Calibri"/>
              </a:rPr>
              <a:t>; app, automations, cloud and audit log accept what it reports</a:t>
            </a:r>
          </a:p>
          <a:p>
            <a:pPr marL="201168" indent="-182880" algn="l">
              <a:spcAft>
                <a:spcPts val="1000"/>
              </a:spcAft>
              <a:buChar char="•"/>
            </a:pPr>
            <a:r>
              <a:rPr sz="1700" b="0" i="0">
                <a:solidFill>
                  <a:srgbClr val="243741"/>
                </a:solidFill>
                <a:latin typeface="Calibri"/>
              </a:rPr>
              <a:t>Real hubs get compromised (Hue Bridge CVE-2020-6007, SmartThings RCE chain, Home Assistant CVE-2023-27482)</a:t>
            </a:r>
          </a:p>
          <a:p>
            <a:pPr marL="201168" indent="-182880" algn="l">
              <a:spcAft>
                <a:spcPts val="1000"/>
              </a:spcAft>
              <a:buChar char="•"/>
            </a:pPr>
            <a:r>
              <a:rPr sz="1700" b="1" i="0">
                <a:solidFill>
                  <a:srgbClr val="243741"/>
                </a:solidFill>
                <a:latin typeface="Calibri"/>
              </a:rPr>
              <a:t>This project</a:t>
            </a:r>
            <a:r>
              <a:rPr sz="1700" b="0" i="0">
                <a:solidFill>
                  <a:srgbClr val="243741"/>
                </a:solidFill>
                <a:latin typeface="Calibri"/>
              </a:rPr>
              <a:t> treats the hub as an untrusted RF↔IP translator and checks its reporting against an independent radio witness</a:t>
            </a:r>
          </a:p>
        </p:txBody>
      </p:sp>
      <p:sp>
        <p:nvSpPr>
          <p:cNvPr id="1048600" name="TextBox 1048599"/>
          <p:cNvSpPr txBox="1"/>
          <p:nvPr/>
        </p:nvSpPr>
        <p:spPr>
          <a:xfrm>
            <a:off x="566928" y="3154680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15 h</a:t>
            </a:r>
          </a:p>
        </p:txBody>
      </p:sp>
      <p:sp>
        <p:nvSpPr>
          <p:cNvPr id="1048601" name="TextBox 1048600"/>
          <p:cNvSpPr txBox="1"/>
          <p:nvPr/>
        </p:nvSpPr>
        <p:spPr>
          <a:xfrm>
            <a:off x="566928" y="3685032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real 802.15.4 traffic parsed (ZIOTP2025)</a:t>
            </a:r>
          </a:p>
        </p:txBody>
      </p:sp>
      <p:sp>
        <p:nvSpPr>
          <p:cNvPr id="1048602" name="TextBox 1048601"/>
          <p:cNvSpPr txBox="1"/>
          <p:nvPr/>
        </p:nvSpPr>
        <p:spPr>
          <a:xfrm>
            <a:off x="2926080" y="3154680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12</a:t>
            </a:r>
          </a:p>
        </p:txBody>
      </p:sp>
      <p:sp>
        <p:nvSpPr>
          <p:cNvPr id="1048603" name="TextBox 1048602"/>
          <p:cNvSpPr txBox="1"/>
          <p:nvPr/>
        </p:nvSpPr>
        <p:spPr>
          <a:xfrm>
            <a:off x="2926080" y="3685032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real radio + IP capture pairs of one hub</a:t>
            </a:r>
          </a:p>
        </p:txBody>
      </p:sp>
      <p:sp>
        <p:nvSpPr>
          <p:cNvPr id="1048604" name="TextBox 1048603"/>
          <p:cNvSpPr txBox="1"/>
          <p:nvPr/>
        </p:nvSpPr>
        <p:spPr>
          <a:xfrm>
            <a:off x="5303520" y="3154680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7</a:t>
            </a:r>
          </a:p>
        </p:txBody>
      </p:sp>
      <p:sp>
        <p:nvSpPr>
          <p:cNvPr id="1048605" name="TextBox 1048604"/>
          <p:cNvSpPr txBox="1"/>
          <p:nvPr/>
        </p:nvSpPr>
        <p:spPr>
          <a:xfrm>
            <a:off x="5303520" y="3685032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gateway-misbehaviour classes injected</a:t>
            </a:r>
          </a:p>
        </p:txBody>
      </p:sp>
      <p:sp>
        <p:nvSpPr>
          <p:cNvPr id="1048606" name="TextBox 1048605"/>
          <p:cNvSpPr txBox="1"/>
          <p:nvPr/>
        </p:nvSpPr>
        <p:spPr>
          <a:xfrm>
            <a:off x="7680960" y="3154680"/>
            <a:ext cx="21031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4</a:t>
            </a:r>
          </a:p>
        </p:txBody>
      </p:sp>
      <p:sp>
        <p:nvSpPr>
          <p:cNvPr id="1048607" name="TextBox 1048606"/>
          <p:cNvSpPr txBox="1"/>
          <p:nvPr/>
        </p:nvSpPr>
        <p:spPr>
          <a:xfrm>
            <a:off x="7680960" y="3685032"/>
            <a:ext cx="2103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invariants + R-GCN residual, k-of-n</a:t>
            </a:r>
          </a:p>
        </p:txBody>
      </p:sp>
      <p:sp>
        <p:nvSpPr>
          <p:cNvPr id="1048608" name="TextBox 1048607"/>
          <p:cNvSpPr txBox="1"/>
          <p:nvPr/>
        </p:nvSpPr>
        <p:spPr>
          <a:xfrm>
            <a:off x="10058400" y="3154680"/>
            <a:ext cx="17373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18</a:t>
            </a:r>
          </a:p>
        </p:txBody>
      </p:sp>
      <p:sp>
        <p:nvSpPr>
          <p:cNvPr id="1048609" name="TextBox 1048608"/>
          <p:cNvSpPr txBox="1"/>
          <p:nvPr/>
        </p:nvSpPr>
        <p:spPr>
          <a:xfrm>
            <a:off x="10058400" y="3685032"/>
            <a:ext cx="1737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tests, 4 against dataset ground truth</a:t>
            </a:r>
          </a:p>
        </p:txBody>
      </p:sp>
      <p:sp>
        <p:nvSpPr>
          <p:cNvPr id="1048610" name="Rounded Rectangle 1048609"/>
          <p:cNvSpPr/>
          <p:nvPr/>
        </p:nvSpPr>
        <p:spPr>
          <a:xfrm>
            <a:off x="566928" y="4434840"/>
            <a:ext cx="11210544" cy="1691640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11" name="TextBox 1048610"/>
          <p:cNvSpPr txBox="1"/>
          <p:nvPr/>
        </p:nvSpPr>
        <p:spPr>
          <a:xfrm>
            <a:off x="676656" y="4507992"/>
            <a:ext cx="1691640" cy="154533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Status at week 12</a:t>
            </a:r>
          </a:p>
        </p:txBody>
      </p:sp>
      <p:sp>
        <p:nvSpPr>
          <p:cNvPr id="1048612" name="TextBox 1048611"/>
          <p:cNvSpPr txBox="1"/>
          <p:nvPr/>
        </p:nvSpPr>
        <p:spPr>
          <a:xfrm>
            <a:off x="2395728" y="4489703"/>
            <a:ext cx="9244584" cy="15819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400" b="0" i="0">
                <a:solidFill>
                  <a:srgbClr val="243741"/>
                </a:solidFill>
                <a:latin typeface="Calibri"/>
              </a:rPr>
              <a:t>Verification engine implemented end to end (≈ 5 k lines) and validated on </a:t>
            </a:r>
            <a:r>
              <a:rPr sz="1400" b="1" i="0">
                <a:solidFill>
                  <a:srgbClr val="243741"/>
                </a:solidFill>
                <a:latin typeface="Calibri"/>
              </a:rPr>
              <a:t>real captures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400" b="0" i="0">
                <a:solidFill>
                  <a:srgbClr val="243741"/>
                </a:solidFill>
                <a:latin typeface="Calibri"/>
              </a:rPr>
              <a:t>Attacks injected on the real traffic with exact ground truth; live dashboard replays real data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400" b="0" i="0">
                <a:solidFill>
                  <a:srgbClr val="243741"/>
                </a:solidFill>
                <a:latin typeface="Calibri"/>
              </a:rPr>
              <a:t>Simulator kept only for the RSSI form of forgery and the detection-floor sweep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400" b="0" i="0">
                <a:solidFill>
                  <a:srgbClr val="243741"/>
                </a:solidFill>
                <a:latin typeface="Calibri"/>
              </a:rPr>
              <a:t>Design doc v3 answers the guide's design questions; own testbed (nRF52840 + HA) is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sp>
        <p:nvSpPr>
          <p:cNvPr id="1048599" name="Rounded Rectangle 1048598"/>
          <p:cNvSpPr/>
          <p:nvPr/>
        </p:nvSpPr>
        <p:spPr>
          <a:xfrm>
            <a:off x="566928" y="1005840"/>
            <a:ext cx="11210544" cy="1600200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0" name="TextBox 1048599"/>
          <p:cNvSpPr txBox="1"/>
          <p:nvPr/>
        </p:nvSpPr>
        <p:spPr>
          <a:xfrm>
            <a:off x="676656" y="1078992"/>
            <a:ext cx="1691640" cy="1453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Motivation</a:t>
            </a:r>
          </a:p>
        </p:txBody>
      </p:sp>
      <p:sp>
        <p:nvSpPr>
          <p:cNvPr id="1048601" name="TextBox 1048600"/>
          <p:cNvSpPr txBox="1"/>
          <p:nvPr/>
        </p:nvSpPr>
        <p:spPr>
          <a:xfrm>
            <a:off x="2395728" y="1060704"/>
            <a:ext cx="9244584" cy="1490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350" b="0" i="0">
                <a:solidFill>
                  <a:srgbClr val="243741"/>
                </a:solidFill>
                <a:latin typeface="Calibri"/>
              </a:rPr>
              <a:t>Hue Bridge heap overflow over the air (~100 m); ~20 SmartThings flaws chained to RCE; HA auth bypass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0" i="0">
                <a:solidFill>
                  <a:srgbClr val="243741"/>
                </a:solidFill>
                <a:latin typeface="Calibri"/>
              </a:rPr>
              <a:t>Every case lands the attacker on the RF→IP translator — the single point of truth for the home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0" i="0">
                <a:solidFill>
                  <a:srgbClr val="243741"/>
                </a:solidFill>
                <a:latin typeface="Calibri"/>
              </a:rPr>
              <a:t>TLS, secure boot, NIDS, attestation protect channel, boot, flow shape or code — never the </a:t>
            </a:r>
            <a:r>
              <a:rPr sz="1350" b="1" i="0">
                <a:solidFill>
                  <a:srgbClr val="243741"/>
                </a:solidFill>
                <a:latin typeface="Calibri"/>
              </a:rPr>
              <a:t>truth of the data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0" i="0">
                <a:solidFill>
                  <a:srgbClr val="243741"/>
                </a:solidFill>
                <a:latin typeface="Calibri"/>
              </a:rPr>
              <a:t>Matter / Thread border routers spread the privileged translator role across more vendors</a:t>
            </a:r>
          </a:p>
        </p:txBody>
      </p:sp>
      <p:sp>
        <p:nvSpPr>
          <p:cNvPr id="1048602" name="Rounded Rectangle 1048601"/>
          <p:cNvSpPr/>
          <p:nvPr/>
        </p:nvSpPr>
        <p:spPr>
          <a:xfrm>
            <a:off x="566928" y="2743200"/>
            <a:ext cx="11210544" cy="1325880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3" name="TextBox 1048602"/>
          <p:cNvSpPr txBox="1"/>
          <p:nvPr/>
        </p:nvSpPr>
        <p:spPr>
          <a:xfrm>
            <a:off x="676656" y="2816352"/>
            <a:ext cx="1691640" cy="11795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Problem statement</a:t>
            </a:r>
          </a:p>
        </p:txBody>
      </p:sp>
      <p:sp>
        <p:nvSpPr>
          <p:cNvPr id="1048604" name="TextBox 1048603"/>
          <p:cNvSpPr txBox="1"/>
          <p:nvPr/>
        </p:nvSpPr>
        <p:spPr>
          <a:xfrm>
            <a:off x="2395728" y="2798064"/>
            <a:ext cx="9244584" cy="121615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350" b="0" i="0">
                <a:solidFill>
                  <a:srgbClr val="243741"/>
                </a:solidFill>
                <a:latin typeface="Calibri"/>
              </a:rPr>
              <a:t>There is </a:t>
            </a:r>
            <a:r>
              <a:rPr sz="1350" b="1" i="0">
                <a:solidFill>
                  <a:srgbClr val="243741"/>
                </a:solidFill>
                <a:latin typeface="Calibri"/>
              </a:rPr>
              <a:t>no mechanism to verify whether an IoT gateway reports truthfully</a:t>
            </a:r>
            <a:r>
              <a:rPr sz="1350" b="0" i="0">
                <a:solidFill>
                  <a:srgbClr val="243741"/>
                </a:solidFill>
                <a:latin typeface="Calibri"/>
              </a:rPr>
              <a:t> about the devices behind it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0" i="0">
                <a:solidFill>
                  <a:srgbClr val="243741"/>
                </a:solidFill>
                <a:latin typeface="Calibri"/>
              </a:rPr>
              <a:t>Adversary: a </a:t>
            </a:r>
            <a:r>
              <a:rPr sz="1350" b="1" i="0">
                <a:solidFill>
                  <a:srgbClr val="243741"/>
                </a:solidFill>
                <a:latin typeface="Calibri"/>
              </a:rPr>
              <a:t>Byzantine gateway</a:t>
            </a:r>
            <a:r>
              <a:rPr sz="1350" b="0" i="0">
                <a:solidFill>
                  <a:srgbClr val="243741"/>
                </a:solidFill>
                <a:latin typeface="Calibri"/>
              </a:rPr>
              <a:t> that can hide, invent, swap, change, delay or leak — and, owning a radio, </a:t>
            </a:r>
            <a:r>
              <a:rPr sz="1350" b="1" i="0">
                <a:solidFill>
                  <a:srgbClr val="243741"/>
                </a:solidFill>
                <a:latin typeface="Calibri"/>
              </a:rPr>
              <a:t>forge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0" i="0">
                <a:solidFill>
                  <a:srgbClr val="243741"/>
                </a:solidFill>
                <a:latin typeface="Calibri"/>
              </a:rPr>
              <a:t>Trusted: a separate verification host with its own clock and radio; baseline learned while the hub is honest</a:t>
            </a:r>
          </a:p>
        </p:txBody>
      </p:sp>
      <p:sp>
        <p:nvSpPr>
          <p:cNvPr id="1048605" name="Rounded Rectangle 1048604"/>
          <p:cNvSpPr/>
          <p:nvPr/>
        </p:nvSpPr>
        <p:spPr>
          <a:xfrm>
            <a:off x="566928" y="4206240"/>
            <a:ext cx="11210544" cy="1920240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6" name="TextBox 1048605"/>
          <p:cNvSpPr txBox="1"/>
          <p:nvPr/>
        </p:nvSpPr>
        <p:spPr>
          <a:xfrm>
            <a:off x="676656" y="4279392"/>
            <a:ext cx="1691640" cy="177393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Objectives</a:t>
            </a:r>
          </a:p>
        </p:txBody>
      </p:sp>
      <p:sp>
        <p:nvSpPr>
          <p:cNvPr id="1048607" name="TextBox 1048606"/>
          <p:cNvSpPr txBox="1"/>
          <p:nvPr/>
        </p:nvSpPr>
        <p:spPr>
          <a:xfrm>
            <a:off x="2395728" y="4542342"/>
            <a:ext cx="9244584" cy="124803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350" b="1" i="0" dirty="0">
                <a:solidFill>
                  <a:srgbClr val="243741"/>
                </a:solidFill>
                <a:latin typeface="Calibri"/>
              </a:rPr>
              <a:t>O1</a:t>
            </a:r>
            <a:r>
              <a:rPr sz="1350" b="0" i="0" dirty="0">
                <a:solidFill>
                  <a:srgbClr val="243741"/>
                </a:solidFill>
                <a:latin typeface="Calibri"/>
              </a:rPr>
              <a:t> Formal invariant set — conservation, provenance, translation, emitter consistency — honesty made testable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1" i="0" dirty="0">
                <a:solidFill>
                  <a:srgbClr val="243741"/>
                </a:solidFill>
                <a:latin typeface="Calibri"/>
              </a:rPr>
              <a:t>O2</a:t>
            </a:r>
            <a:r>
              <a:rPr sz="1350" b="0" i="0" dirty="0">
                <a:solidFill>
                  <a:srgbClr val="243741"/>
                </a:solidFill>
                <a:latin typeface="Calibri"/>
              </a:rPr>
              <a:t> Independent witness pipeline: loss accounting, learned bands, k-of-n persistence, attributed alerts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1" i="0" dirty="0">
                <a:solidFill>
                  <a:srgbClr val="243741"/>
                </a:solidFill>
                <a:latin typeface="Calibri"/>
              </a:rPr>
              <a:t>O3</a:t>
            </a:r>
            <a:r>
              <a:rPr sz="1350" b="0" i="0" dirty="0">
                <a:solidFill>
                  <a:srgbClr val="243741"/>
                </a:solidFill>
                <a:latin typeface="Calibri"/>
              </a:rPr>
              <a:t> First dataset with a </a:t>
            </a:r>
            <a:r>
              <a:rPr sz="1350" b="1" i="0" dirty="0">
                <a:solidFill>
                  <a:srgbClr val="243741"/>
                </a:solidFill>
                <a:latin typeface="Calibri"/>
              </a:rPr>
              <a:t>gateway that lies</a:t>
            </a:r>
            <a:r>
              <a:rPr sz="1350" b="0" i="0" dirty="0">
                <a:solidFill>
                  <a:srgbClr val="243741"/>
                </a:solidFill>
                <a:latin typeface="Calibri"/>
              </a:rPr>
              <a:t> — paired radio + IP, labelled per window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1" i="0" dirty="0">
                <a:solidFill>
                  <a:srgbClr val="243741"/>
                </a:solidFill>
                <a:latin typeface="Calibri"/>
              </a:rPr>
              <a:t>O4</a:t>
            </a:r>
            <a:r>
              <a:rPr sz="1350" b="0" i="0" dirty="0">
                <a:solidFill>
                  <a:srgbClr val="243741"/>
                </a:solidFill>
                <a:latin typeface="Calibri"/>
              </a:rPr>
              <a:t> Quantified </a:t>
            </a:r>
            <a:r>
              <a:rPr sz="1350" b="1" i="0" dirty="0">
                <a:solidFill>
                  <a:srgbClr val="243741"/>
                </a:solidFill>
                <a:latin typeface="Calibri"/>
              </a:rPr>
              <a:t>detection floor</a:t>
            </a:r>
            <a:r>
              <a:rPr sz="1350" b="0" i="0" dirty="0">
                <a:solidFill>
                  <a:srgbClr val="243741"/>
                </a:solidFill>
                <a:latin typeface="Calibri"/>
              </a:rPr>
              <a:t> as a function of capture completeness C and window T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50" b="1" i="0" dirty="0">
                <a:solidFill>
                  <a:srgbClr val="243741"/>
                </a:solidFill>
                <a:latin typeface="Calibri"/>
              </a:rPr>
              <a:t>O5</a:t>
            </a:r>
            <a:r>
              <a:rPr sz="1350" b="0" i="0" dirty="0">
                <a:solidFill>
                  <a:srgbClr val="243741"/>
                </a:solidFill>
                <a:latin typeface="Calibri"/>
              </a:rPr>
              <a:t> Transfer study: what is invariant vs. what is a fingerprint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Summary (1/2)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graphicFrame>
        <p:nvGraphicFramePr>
          <p:cNvPr id="1048599" name="Table 1048598"/>
          <p:cNvGraphicFramePr>
            <a:graphicFrameLocks noGrp="1"/>
          </p:cNvGraphicFramePr>
          <p:nvPr/>
        </p:nvGraphicFramePr>
        <p:xfrm>
          <a:off x="566928" y="1005840"/>
          <a:ext cx="11210541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7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9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9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 · Venue · Year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Demerit / assumption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Dataset used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Evaluation metrics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Marti, Giuli, Lai, Baker — Watchdog / Pathrater · MobiCom 2000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Passive overhearing infers a next hop that failed to forward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Same radio, exact frame; evadable by power control; ambiguous collisions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ns-2 simulation (50-node MANET)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Throughput, overhead, false positives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Karlof &amp; Wagner — Secure routing in WSNs · SNPA / Ad Hoc Networks 2003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Attack taxonomy: selective forwarding, sinkhole, Sybil, wormhole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Assumes cooperating in-network nodes; single radio domain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Protocol analysis, no dataset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Qualitative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Przydatek, Song, Perrig — SIA · SenSys 2003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Verify an untrusted aggregator by aggregate-commit-prove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Needs instrumented, cooperating sensor nodes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Analysis + simulation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Communication overhead, approximation bound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Faria &amp; Cheriton — Signalprints · WiSe 2006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RSSI vectors at several sensors identify a transmitter; hard to forge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Multiple sensors; 802.11; mobility breaks prints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Own 802.11 testbed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Signalprint match rate, false accept / reject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Akestoridis et al. — Zigator · WiSec 2020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Metadata-only analysis of encrypted Zigbee; jamming / spoofing attacks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Characterises the radio only; never compared to hub reporting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Own captures (CRAWDAD cmu/zigbee-smarthome, ~35 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Attack demonstrations, packet 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Summary (2/2)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graphicFrame>
        <p:nvGraphicFramePr>
          <p:cNvPr id="1048599" name="Table 1048598"/>
          <p:cNvGraphicFramePr>
            <a:graphicFrameLocks noGrp="1"/>
          </p:cNvGraphicFramePr>
          <p:nvPr/>
        </p:nvGraphicFramePr>
        <p:xfrm>
          <a:off x="566928" y="1005840"/>
          <a:ext cx="11210541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5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7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9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9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 · Venue · Year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Demerit / assumption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Dataset used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Evaluation metrics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Zhang et al. — HoMonit · CCS 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Encrypted side-channel fingerprints vs. a DFA of expected app behaviour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Trusts the hub's app inventory and event stream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Own SmartThings testbed, 60 SmartApps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Precision / recall of misbehaviour detection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Meng et al. — IoTGaze · INFOCOM 2020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Wireless context vs. expected context from app descriptions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Trusts the declared app behaviour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Own SmartThings testbed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Precision, recall, F1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Birnbach, Eberz, Martinovic — Peeves · CCS 2019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Verifies physical events with an ensemble of ~48 sensors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Needs many extra sensors; verifies events, not the reporting 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Own instrumented office, 22 event types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Detection rate / false positives (EER)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Fu, Zeng, Du — HAWatcher · USENIX Security 2021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Semantics-aware correlations, shadow execution flags divergence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Trusts the event log the hub produces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4 SmartThings testbeds, 62 apps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Precision / recall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Boiano et al. — ZIOTP2025 · arXiv 2602.03140,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Public 802.15.4 corpus: 21 devices, 2 topologies, Home Assistant 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Benign only — honest hub; no adversarial ground truth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ZIOTP2025 (252,896 frames)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43741"/>
                          </a:solidFill>
                          <a:latin typeface="Calibri"/>
                        </a:rPr>
                        <a:t>Macro-F1: device type 0.95→0.74, device ID 0.89→0.41 across topologies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600" name="TextBox 1048599"/>
          <p:cNvSpPr txBox="1"/>
          <p:nvPr/>
        </p:nvSpPr>
        <p:spPr>
          <a:xfrm>
            <a:off x="566928" y="5989320"/>
            <a:ext cx="1121054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>
                <a:solidFill>
                  <a:srgbClr val="5F6B73"/>
                </a:solidFill>
                <a:latin typeface="Calibri"/>
              </a:rPr>
              <a:t>Rows 1–2: watchdog ancestry (same radio, exact) · rows 6–9: verify automation logic and trust the hub · rows 5, 10: radio data, our benign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sp>
        <p:nvSpPr>
          <p:cNvPr id="1048599" name="Rounded Rectangle 1048598"/>
          <p:cNvSpPr/>
          <p:nvPr/>
        </p:nvSpPr>
        <p:spPr>
          <a:xfrm>
            <a:off x="566928" y="1005840"/>
            <a:ext cx="11210544" cy="2743200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0" name="TextBox 1048599"/>
          <p:cNvSpPr txBox="1"/>
          <p:nvPr/>
        </p:nvSpPr>
        <p:spPr>
          <a:xfrm>
            <a:off x="676656" y="1078992"/>
            <a:ext cx="1691640" cy="259689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Gaps in prior work</a:t>
            </a:r>
          </a:p>
        </p:txBody>
      </p:sp>
      <p:sp>
        <p:nvSpPr>
          <p:cNvPr id="1048601" name="TextBox 1048600"/>
          <p:cNvSpPr txBox="1"/>
          <p:nvPr/>
        </p:nvSpPr>
        <p:spPr>
          <a:xfrm>
            <a:off x="2395728" y="1060704"/>
            <a:ext cx="9244584" cy="263347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300" b="1" i="0">
                <a:solidFill>
                  <a:srgbClr val="243741"/>
                </a:solidFill>
                <a:latin typeface="Calibri"/>
              </a:rPr>
              <a:t>No work verifies the hub's own northbound reporting across the RF↔IP boundary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 — watchdogs stay inside one radio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00" b="1" i="0">
                <a:solidFill>
                  <a:srgbClr val="243741"/>
                </a:solidFill>
                <a:latin typeface="Calibri"/>
              </a:rPr>
              <a:t>The adversary is the translator itself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 — prior taxonomies place the attacker among the nodes, not at the bridge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00" b="1" i="0">
                <a:solidFill>
                  <a:srgbClr val="243741"/>
                </a:solidFill>
                <a:latin typeface="Calibri"/>
              </a:rPr>
              <a:t>Absence cannot be authenticated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 — no cryptographic construct proves a message was never sent; evidence must be out of band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00" b="1" i="0">
                <a:solidFill>
                  <a:srgbClr val="243741"/>
                </a:solidFill>
                <a:latin typeface="Calibri"/>
              </a:rPr>
              <a:t>No dataset contains a gateway that misreports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 — ZIOTP2025, ZigBeeNet, ZBDS2023, Zigator all record an honest hub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00" b="1" i="0">
                <a:solidFill>
                  <a:srgbClr val="243741"/>
                </a:solidFill>
                <a:latin typeface="Calibri"/>
              </a:rPr>
              <a:t>No stated detection floor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 — cross-layer binding is statistical, yet prior work reports accuracy, not the loss-dependent limit</a:t>
            </a:r>
          </a:p>
        </p:txBody>
      </p:sp>
      <p:sp>
        <p:nvSpPr>
          <p:cNvPr id="1048602" name="Rounded Rectangle 1048601"/>
          <p:cNvSpPr/>
          <p:nvPr/>
        </p:nvSpPr>
        <p:spPr>
          <a:xfrm>
            <a:off x="566928" y="3931920"/>
            <a:ext cx="11210544" cy="2194560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3" name="TextBox 1048602"/>
          <p:cNvSpPr txBox="1"/>
          <p:nvPr/>
        </p:nvSpPr>
        <p:spPr>
          <a:xfrm>
            <a:off x="676656" y="4005072"/>
            <a:ext cx="1691640" cy="204825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Confirmed on real data (wk 12)</a:t>
            </a:r>
          </a:p>
        </p:txBody>
      </p:sp>
      <p:sp>
        <p:nvSpPr>
          <p:cNvPr id="1048604" name="TextBox 1048603"/>
          <p:cNvSpPr txBox="1"/>
          <p:nvPr/>
        </p:nvSpPr>
        <p:spPr>
          <a:xfrm>
            <a:off x="2395728" y="3986783"/>
            <a:ext cx="9244584" cy="208483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No public 802.15.4 corpus carries </a:t>
            </a:r>
            <a:r>
              <a:rPr sz="1300" b="1" i="0">
                <a:solidFill>
                  <a:srgbClr val="243741"/>
                </a:solidFill>
                <a:latin typeface="Calibri"/>
              </a:rPr>
              <a:t>RSSI/LQI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 — the physical-layer form of emitter consistency is untestable on any of them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Real stacks' </a:t>
            </a:r>
            <a:r>
              <a:rPr sz="1300" b="1" i="0">
                <a:solidFill>
                  <a:srgbClr val="243741"/>
                </a:solidFill>
                <a:latin typeface="Calibri"/>
              </a:rPr>
              <a:t>NWK counters skip values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 (coordinator every other; Philips two interleaved) — loss must be counted on MAC counters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Real homes are </a:t>
            </a:r>
            <a:r>
              <a:rPr sz="1300" b="1" i="0">
                <a:solidFill>
                  <a:srgbClr val="243741"/>
                </a:solidFill>
                <a:latin typeface="Calibri"/>
              </a:rPr>
              <a:t>meshes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: sensors reach the hub via routers, but the cleartext NWK header still names the originator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A real hub's app channel gives every device a ~40 B compressed push — </a:t>
            </a:r>
            <a:r>
              <a:rPr sz="1300" b="1" i="0">
                <a:solidFill>
                  <a:srgbClr val="243741"/>
                </a:solidFill>
                <a:latin typeface="Calibri"/>
              </a:rPr>
              <a:t>length carries no identity</a:t>
            </a:r>
            <a:r>
              <a:rPr sz="1300" b="0" i="0">
                <a:solidFill>
                  <a:srgbClr val="243741"/>
                </a:solidFill>
                <a:latin typeface="Calibri"/>
              </a:rPr>
              <a:t>, conservation must be a ratio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graphicFrame>
        <p:nvGraphicFramePr>
          <p:cNvPr id="1048599" name="Table 10485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878244"/>
              </p:ext>
            </p:extLst>
          </p:nvPr>
        </p:nvGraphicFramePr>
        <p:xfrm>
          <a:off x="566928" y="1005840"/>
          <a:ext cx="11210544" cy="5120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8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is used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 / notes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Dataset (real)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ZIOTP2025 — 91 captures, 15.4 h, 252,896 802.15.4 frames, 21 devices, 2 topologies; 12 captures paired in time with tcpdumps of the Home Assistant hub (GitHub, Apache-2.0)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Primary. Parsed to the frame; ground-truth device labels verified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Dataset (adversarial)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43741"/>
                          </a:solidFill>
                          <a:latin typeface="Calibri"/>
                        </a:rPr>
                        <a:t>Trace-driven injection of  </a:t>
                      </a:r>
                      <a:r>
                        <a:rPr sz="1000" b="0" dirty="0" err="1">
                          <a:solidFill>
                            <a:srgbClr val="243741"/>
                          </a:solidFill>
                          <a:latin typeface="Calibri"/>
                        </a:rPr>
                        <a:t>misbehaviour</a:t>
                      </a:r>
                      <a:r>
                        <a:rPr sz="1000" b="0" dirty="0">
                          <a:solidFill>
                            <a:srgbClr val="243741"/>
                          </a:solidFill>
                          <a:latin typeface="Calibri"/>
                        </a:rPr>
                        <a:t> on the real pairs (hide, invent, swap, change, delay, leak, forge) with exact per-event labels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This project's corpus; simulator kept for the RSSI form of forgery and the detection-floor sweep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Dataset: Raspberry Pi 4 + Home Assistant OS + Sonoff EFR32MG21 coordinator, CC2531/whsniff sniffer. Ours (next): Pi 4/5 verification host + nRF52840 witness + IP tap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Own testbed weeks 13–15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Python 3.10+ (Windows / Linux), Docker image for the Pi; no PyTorch needed on the host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v0.5, 18 pytest tests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Capture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pcap/pcapng readers: nRF TAP (DLT 283), CC2531 (DLT 195, FCS/CC24xx auto-detected), cleartext NWK header; hub-flow IP reader with TLS record segmentation and SNI; tshark CSV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scapy for pcapng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Processing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MAC-seq loss accounting + orphan-ACK cross-check → completeness C; T = 5 s windows on one clock, 60–120 s rolling horizon; commissioning signatures; ML record attribution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NumPy / pandas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43741"/>
                          </a:solidFill>
                          <a:latin typeface="Calibri"/>
                        </a:rPr>
                        <a:t>Four invariants with learned bands (quantile 0.995, floors from measured loss), R-GCN translation residual, 3-of-5 persistence, attribution,  alert schema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Rules validated on real data; residual calibrated on simulator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Sinks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SQLite record of truth, JSON lines for SIEM, MQTT topic for Home Assistant, capped evidence directory, local dashboard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Nothing sent to the vendor cloud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3-fold cross-validation on real pairs; per-window TPR/FPR, episode detection, latency, false alerts/day, attribution; baselines (a)–(d); detection floor f × C × T; cross-topology transfer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43741"/>
                          </a:solidFill>
                          <a:latin typeface="Calibri"/>
                        </a:rPr>
                        <a:t>scripts/ziotp_experiments.py, run_ablations.py, run_detection_floor.py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/ Architecture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pic>
        <p:nvPicPr>
          <p:cNvPr id="1048599" name="Picture 104859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960120"/>
            <a:ext cx="8321040" cy="4031902"/>
          </a:xfrm>
          <a:prstGeom prst="rect">
            <a:avLst/>
          </a:prstGeom>
        </p:spPr>
      </p:pic>
      <p:sp>
        <p:nvSpPr>
          <p:cNvPr id="1048600" name="Rounded Rectangle 1048599"/>
          <p:cNvSpPr/>
          <p:nvPr/>
        </p:nvSpPr>
        <p:spPr>
          <a:xfrm>
            <a:off x="9098280" y="960120"/>
            <a:ext cx="2679192" cy="4032504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1" name="TextBox 1048600"/>
          <p:cNvSpPr txBox="1"/>
          <p:nvPr/>
        </p:nvSpPr>
        <p:spPr>
          <a:xfrm>
            <a:off x="9208008" y="1024128"/>
            <a:ext cx="2468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50" b="1" i="0">
                <a:solidFill>
                  <a:srgbClr val="B8114F"/>
                </a:solidFill>
                <a:latin typeface="Calibri"/>
              </a:rPr>
              <a:t>As implemented (v0.5)</a:t>
            </a:r>
          </a:p>
        </p:txBody>
      </p:sp>
      <p:sp>
        <p:nvSpPr>
          <p:cNvPr id="1048602" name="TextBox 1048601"/>
          <p:cNvSpPr txBox="1"/>
          <p:nvPr/>
        </p:nvSpPr>
        <p:spPr>
          <a:xfrm>
            <a:off x="9208008" y="1371600"/>
            <a:ext cx="2468880" cy="232012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700"/>
              </a:spcAft>
              <a:buNone/>
            </a:pPr>
            <a:r>
              <a:rPr sz="1150" b="0" i="0" dirty="0">
                <a:solidFill>
                  <a:srgbClr val="243741"/>
                </a:solidFill>
                <a:latin typeface="Calibri"/>
              </a:rPr>
              <a:t>1. Dual capture: RF sniffer + IP tap</a:t>
            </a:r>
          </a:p>
          <a:p>
            <a:pPr algn="l">
              <a:spcAft>
                <a:spcPts val="700"/>
              </a:spcAft>
              <a:buNone/>
            </a:pPr>
            <a:r>
              <a:rPr sz="1150" b="0" i="0" dirty="0">
                <a:solidFill>
                  <a:srgbClr val="243741"/>
                </a:solidFill>
                <a:latin typeface="Calibri"/>
              </a:rPr>
              <a:t>2. Loss accounting → completeness C</a:t>
            </a:r>
          </a:p>
          <a:p>
            <a:pPr algn="l">
              <a:spcAft>
                <a:spcPts val="700"/>
              </a:spcAft>
              <a:buNone/>
            </a:pPr>
            <a:r>
              <a:rPr sz="1150" b="0" i="0" dirty="0">
                <a:solidFill>
                  <a:srgbClr val="243741"/>
                </a:solidFill>
                <a:latin typeface="Calibri"/>
              </a:rPr>
              <a:t>3. 5 s windows, rolling horizon</a:t>
            </a:r>
          </a:p>
          <a:p>
            <a:pPr algn="l">
              <a:spcAft>
                <a:spcPts val="700"/>
              </a:spcAft>
              <a:buNone/>
            </a:pPr>
            <a:r>
              <a:rPr sz="1150" b="0" i="0" dirty="0">
                <a:solidFill>
                  <a:srgbClr val="243741"/>
                </a:solidFill>
                <a:latin typeface="Calibri"/>
              </a:rPr>
              <a:t>4. Signatures + record attribution</a:t>
            </a:r>
          </a:p>
          <a:p>
            <a:pPr algn="l">
              <a:spcAft>
                <a:spcPts val="700"/>
              </a:spcAft>
              <a:buNone/>
            </a:pPr>
            <a:r>
              <a:rPr sz="1150" b="0" i="0" dirty="0">
                <a:solidFill>
                  <a:srgbClr val="243741"/>
                </a:solidFill>
                <a:latin typeface="Calibri"/>
              </a:rPr>
              <a:t>5. Four invariants + R-GCN residual</a:t>
            </a:r>
          </a:p>
          <a:p>
            <a:pPr algn="l">
              <a:spcAft>
                <a:spcPts val="700"/>
              </a:spcAft>
              <a:buNone/>
            </a:pPr>
            <a:r>
              <a:rPr sz="1150" b="0" i="0" dirty="0">
                <a:solidFill>
                  <a:srgbClr val="243741"/>
                </a:solidFill>
                <a:latin typeface="Calibri"/>
              </a:rPr>
              <a:t>6. Temporal consensus: 3-of-5</a:t>
            </a:r>
          </a:p>
          <a:p>
            <a:pPr algn="l">
              <a:spcAft>
                <a:spcPts val="700"/>
              </a:spcAft>
              <a:buNone/>
            </a:pPr>
            <a:r>
              <a:rPr sz="1150" b="0" i="0" dirty="0">
                <a:solidFill>
                  <a:srgbClr val="243741"/>
                </a:solidFill>
                <a:latin typeface="Calibri"/>
              </a:rPr>
              <a:t>7. Attribution → 7.1 alert sinks</a:t>
            </a:r>
          </a:p>
          <a:p>
            <a:pPr algn="l">
              <a:spcAft>
                <a:spcPts val="700"/>
              </a:spcAft>
              <a:buNone/>
            </a:pPr>
            <a:r>
              <a:rPr sz="1000" b="0" i="1" dirty="0">
                <a:solidFill>
                  <a:srgbClr val="5F6B73"/>
                </a:solidFill>
                <a:latin typeface="Calibri"/>
              </a:rPr>
              <a:t>Metadata only — never decrypts</a:t>
            </a:r>
          </a:p>
          <a:p>
            <a:pPr algn="l">
              <a:spcAft>
                <a:spcPts val="700"/>
              </a:spcAft>
              <a:buNone/>
            </a:pPr>
            <a:r>
              <a:rPr sz="1000" b="0" i="1" dirty="0">
                <a:solidFill>
                  <a:srgbClr val="5F6B73"/>
                </a:solidFill>
                <a:latin typeface="Calibri"/>
              </a:rPr>
              <a:t>Global aggregation: later phase</a:t>
            </a:r>
          </a:p>
        </p:txBody>
      </p:sp>
      <p:sp>
        <p:nvSpPr>
          <p:cNvPr id="1048603" name="TextBox 1048602"/>
          <p:cNvSpPr txBox="1"/>
          <p:nvPr/>
        </p:nvSpPr>
        <p:spPr>
          <a:xfrm>
            <a:off x="566928" y="5120640"/>
            <a:ext cx="11210544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>
                <a:solidFill>
                  <a:srgbClr val="243741"/>
                </a:solidFill>
                <a:latin typeface="Calibri"/>
              </a:rPr>
              <a:t>Novelty</a:t>
            </a:r>
            <a:r>
              <a:rPr sz="1150" b="0" i="0">
                <a:solidFill>
                  <a:srgbClr val="243741"/>
                </a:solidFill>
                <a:latin typeface="Calibri"/>
              </a:rPr>
              <a:t> — a new trust boundary: the hub is a Byzantine RF→IP translator, verified by a witness it cannot feed or route around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>
                <a:solidFill>
                  <a:srgbClr val="243741"/>
                </a:solidFill>
                <a:latin typeface="Calibri"/>
              </a:rPr>
              <a:t>Novelty</a:t>
            </a:r>
            <a:r>
              <a:rPr sz="1150" b="0" i="0">
                <a:solidFill>
                  <a:srgbClr val="243741"/>
                </a:solidFill>
                <a:latin typeface="Calibri"/>
              </a:rPr>
              <a:t> — a testable invariant set that survives an adversary who also transmits (RSSI form, link-layer fallback)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>
                <a:solidFill>
                  <a:srgbClr val="243741"/>
                </a:solidFill>
                <a:latin typeface="Calibri"/>
              </a:rPr>
              <a:t>Novelty</a:t>
            </a:r>
            <a:r>
              <a:rPr sz="1150" b="0" i="0">
                <a:solidFill>
                  <a:srgbClr val="243741"/>
                </a:solidFill>
                <a:latin typeface="Calibri"/>
              </a:rPr>
              <a:t> — the first paired radio + IP corpus with a lying gateway, and a quantified detection floor instead of a completeness claim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1 — invariants and decision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graphicFrame>
        <p:nvGraphicFramePr>
          <p:cNvPr id="1048599" name="Table 1048598"/>
          <p:cNvGraphicFramePr>
            <a:graphicFrameLocks noGrp="1"/>
          </p:cNvGraphicFramePr>
          <p:nvPr/>
        </p:nvGraphicFramePr>
        <p:xfrm>
          <a:off x="566928" y="1005840"/>
          <a:ext cx="11210544" cy="5376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Invariant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Statistic per device d over the rolling horizon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Learned band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Violation ⇒ interpretation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Conservation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deficit = received − reports;  report_ratio = reports / received (received = frames the hub provably ACKed + orphan ACKs)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quantile 0.995 of benign windows × 1.25 margin, floor 1 count; ratio band lowered by 0.15; deficit counts only if the ratio is also 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ratio low / deficit ⇒ suppression; surplus ⇒ fabrication; egress to a never-seen endpoint ⇒ exfiltration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unprovenanced = hub records credited to d with no radio from d within Δt (Δt = 1 s on the real hub; its pushes are batched)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as above; a record is credited by max-likelihood over length z-score + delay z-score, else to the signature class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misattribution (event of A reported as B) or fabrication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Translation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len_z, delay_z: mean |z| of record length / delay vs d's signature; out-of-band fractions (|z| &gt; 2.5)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z floor 3.0; fraction floor 0.5; ≥ 2 records in horizon to be evaluable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tampered translation (length or timing drift with no firmware change)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Emitter consistency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RSSI form: |z| of RSSI/LQI vs d's signature, out-of-band fraction. Link-layer form (no RSSI): MAC counter discontinuities under d's address; duplicate ACKs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per-device band (3σ) from commissioning variance; discontinuity band absorbs loss bursts &gt; 24 frames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frames not emitted by d — the hub (or another radio) forged the evidence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Fail-safe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completeness C &lt; 0.70 over the horizon, or retransmission rate &gt; 40 %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window reported as degraded — cannot verify (never 'all clear'); jamming becomes an alert, not a blind spot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k-of-n: a (device, invariant) finding is confirmed when ≥ 3 of the last 5 evaluable windows agree; clears when evidence is absent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k = 3, n = 5, T = 5 s, horizon 60 s (real) / 120 s (simulated)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one confirmed alert per finding: device or class, window, invariant, direction, observed, band, completeness, evidence path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2 — learning, training, testing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sp>
        <p:nvSpPr>
          <p:cNvPr id="1048599" name="TextBox 1048598"/>
          <p:cNvSpPr txBox="1"/>
          <p:nvPr/>
        </p:nvSpPr>
        <p:spPr>
          <a:xfrm>
            <a:off x="566928" y="1005840"/>
            <a:ext cx="5760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Commissioning (training) — benign window only</a:t>
            </a:r>
          </a:p>
        </p:txBody>
      </p:sp>
      <p:sp>
        <p:nvSpPr>
          <p:cNvPr id="1048600" name="TextBox 1048599"/>
          <p:cNvSpPr txBox="1"/>
          <p:nvPr/>
        </p:nvSpPr>
        <p:spPr>
          <a:xfrm>
            <a:off x="566928" y="1417320"/>
            <a:ext cx="576072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Parse both captures → frames (MAC + NWK header) and hub records (TLS)</a:t>
            </a:r>
          </a:p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Loss accounting → retx / lost / ACKed flags, orphan ACKs, completeness C</a:t>
            </a:r>
          </a:p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Per-device signatures: endpoint, length, delay, RSSI/LQI (median / MAD)</a:t>
            </a:r>
          </a:p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Window features + rolling horizon → benign quantile bands, widened by loss</a:t>
            </a:r>
          </a:p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R-GCN residual: radio-side inputs → IP-side counts; threshold q 0.999 × 2</a:t>
            </a:r>
          </a:p>
        </p:txBody>
      </p:sp>
      <p:sp>
        <p:nvSpPr>
          <p:cNvPr id="1048601" name="TextBox 1048600"/>
          <p:cNvSpPr txBox="1"/>
          <p:nvPr/>
        </p:nvSpPr>
        <p:spPr>
          <a:xfrm>
            <a:off x="566928" y="3611880"/>
            <a:ext cx="5760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B8114F"/>
                </a:solidFill>
                <a:latin typeface="Calibri"/>
              </a:rPr>
              <a:t>Verification (testing)</a:t>
            </a:r>
          </a:p>
        </p:txBody>
      </p:sp>
      <p:sp>
        <p:nvSpPr>
          <p:cNvPr id="1048602" name="TextBox 1048601"/>
          <p:cNvSpPr txBox="1"/>
          <p:nvPr/>
        </p:nvSpPr>
        <p:spPr>
          <a:xfrm>
            <a:off x="566928" y="4023360"/>
            <a:ext cx="576072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Held-out captures → same pipeline → invariants + residual → k-of-n → alerts</a:t>
            </a:r>
          </a:p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ZIOTP: 3-fold CV per topology — 4 pairs commission, 2 pairs verify</a:t>
            </a:r>
          </a:p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Attacks injected on the verify pairs with per-event ground truth</a:t>
            </a:r>
          </a:p>
          <a:p>
            <a:pPr marL="201168" indent="-182880" algn="l">
              <a:spcAft>
                <a:spcPts val="700"/>
              </a:spcAft>
              <a:buChar char="•"/>
            </a:pPr>
            <a:r>
              <a:rPr sz="1300" b="0" i="0">
                <a:solidFill>
                  <a:srgbClr val="243741"/>
                </a:solidFill>
                <a:latin typeface="Calibri"/>
              </a:rPr>
              <a:t>Metrics: window TPR/FPR, episode detection, latency, false alerts/day</a:t>
            </a:r>
          </a:p>
        </p:txBody>
      </p:sp>
      <p:graphicFrame>
        <p:nvGraphicFramePr>
          <p:cNvPr id="1048603" name="Table 1048602"/>
          <p:cNvGraphicFramePr>
            <a:graphicFrameLocks noGrp="1"/>
          </p:cNvGraphicFramePr>
          <p:nvPr/>
        </p:nvGraphicFramePr>
        <p:xfrm>
          <a:off x="6583680" y="1005840"/>
          <a:ext cx="5193792" cy="4718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Hyperparameter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Window T / 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5 s / 60 s (real), 120 s (sim)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Provenance Δt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1.0 s (real hub), 1.0 s (sim)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Persistence k of 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3 of 5 evaluable windows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Degraded thresholds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C &lt; 0.70; retx rate &gt; 40 %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Band quantile / margin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0.995 / ×1.25; z floor 3.0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Signature min events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4 (real, short captures) / 8 (sim)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R-GCN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2 layers, hidden 32, 4 relations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Adam, lr 5e-3, wd 1e-4, batch 256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Epochs / early stop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≤ 300, patience 40, 25 % 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Residual threshold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q 0.999 × 2.0, floor 4.0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1"/>
                          </a:solidFill>
                          <a:latin typeface="Calibri"/>
                        </a:rPr>
                        <a:t>CV folds / seeds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43741"/>
                          </a:solidFill>
                          <a:latin typeface="Calibri"/>
                        </a:rPr>
                        <a:t>3 folds × 2 seeds per attack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Analysis 1 — the real captures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sp>
        <p:nvSpPr>
          <p:cNvPr id="1048599" name="TextBox 1048598"/>
          <p:cNvSpPr txBox="1"/>
          <p:nvPr/>
        </p:nvSpPr>
        <p:spPr>
          <a:xfrm>
            <a:off x="566928" y="96012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15.4 h</a:t>
            </a:r>
          </a:p>
        </p:txBody>
      </p:sp>
      <p:sp>
        <p:nvSpPr>
          <p:cNvPr id="1048600" name="TextBox 1048599"/>
          <p:cNvSpPr txBox="1"/>
          <p:nvPr/>
        </p:nvSpPr>
        <p:spPr>
          <a:xfrm>
            <a:off x="566928" y="1490472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of real 802.15.4 traffic, 91 captures, 21 commercial devices, 2 topologies</a:t>
            </a:r>
          </a:p>
        </p:txBody>
      </p:sp>
      <p:sp>
        <p:nvSpPr>
          <p:cNvPr id="1048601" name="TextBox 1048600"/>
          <p:cNvSpPr txBox="1"/>
          <p:nvPr/>
        </p:nvSpPr>
        <p:spPr>
          <a:xfrm>
            <a:off x="2743200" y="96012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252,896</a:t>
            </a:r>
          </a:p>
        </p:txBody>
      </p:sp>
      <p:sp>
        <p:nvSpPr>
          <p:cNvPr id="1048602" name="TextBox 1048601"/>
          <p:cNvSpPr txBox="1"/>
          <p:nvPr/>
        </p:nvSpPr>
        <p:spPr>
          <a:xfrm>
            <a:off x="2743200" y="1490472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frames parsed — matches the dataset paper's count exactly</a:t>
            </a:r>
          </a:p>
        </p:txBody>
      </p:sp>
      <p:sp>
        <p:nvSpPr>
          <p:cNvPr id="1048603" name="TextBox 1048602"/>
          <p:cNvSpPr txBox="1"/>
          <p:nvPr/>
        </p:nvSpPr>
        <p:spPr>
          <a:xfrm>
            <a:off x="5120640" y="96012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0.89 / 0.88</a:t>
            </a:r>
          </a:p>
        </p:txBody>
      </p:sp>
      <p:sp>
        <p:nvSpPr>
          <p:cNvPr id="1048604" name="TextBox 1048603"/>
          <p:cNvSpPr txBox="1"/>
          <p:nvPr/>
        </p:nvSpPr>
        <p:spPr>
          <a:xfrm>
            <a:off x="5120640" y="1490472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measured witness completeness C, topology A / B (MAC seq gaps + orphan ACKs)</a:t>
            </a:r>
          </a:p>
        </p:txBody>
      </p:sp>
      <p:sp>
        <p:nvSpPr>
          <p:cNvPr id="1048605" name="TextBox 1048604"/>
          <p:cNvSpPr txBox="1"/>
          <p:nvPr/>
        </p:nvSpPr>
        <p:spPr>
          <a:xfrm>
            <a:off x="7680960" y="960120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96% / 98%</a:t>
            </a:r>
          </a:p>
        </p:txBody>
      </p:sp>
      <p:sp>
        <p:nvSpPr>
          <p:cNvPr id="1048606" name="TextBox 1048605"/>
          <p:cNvSpPr txBox="1"/>
          <p:nvPr/>
        </p:nvSpPr>
        <p:spPr>
          <a:xfrm>
            <a:off x="7680960" y="1490472"/>
            <a:ext cx="1828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of device uplinks confirmed by a captured coordinator ACK</a:t>
            </a:r>
          </a:p>
        </p:txBody>
      </p:sp>
      <p:sp>
        <p:nvSpPr>
          <p:cNvPr id="1048607" name="TextBox 1048606"/>
          <p:cNvSpPr txBox="1"/>
          <p:nvPr/>
        </p:nvSpPr>
        <p:spPr>
          <a:xfrm>
            <a:off x="10058400" y="960120"/>
            <a:ext cx="17373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12</a:t>
            </a:r>
          </a:p>
        </p:txBody>
      </p:sp>
      <p:sp>
        <p:nvSpPr>
          <p:cNvPr id="1048608" name="TextBox 1048607"/>
          <p:cNvSpPr txBox="1"/>
          <p:nvPr/>
        </p:nvSpPr>
        <p:spPr>
          <a:xfrm>
            <a:off x="10058400" y="1490472"/>
            <a:ext cx="1737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real radio+IP capture pairs of the same hub (Home Assistant on a Pi 4)</a:t>
            </a:r>
          </a:p>
        </p:txBody>
      </p:sp>
      <p:pic>
        <p:nvPicPr>
          <p:cNvPr id="1048609" name="Picture 1048608" descr="ziot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11210544" cy="3138952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sp>
        <p:nvSpPr>
          <p:cNvPr id="1048610" name="TextBox 1048609"/>
          <p:cNvSpPr txBox="1"/>
          <p:nvPr/>
        </p:nvSpPr>
        <p:spPr>
          <a:xfrm>
            <a:off x="566928" y="5349240"/>
            <a:ext cx="11210544" cy="6145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200"/>
              </a:spcAft>
              <a:buChar char="•"/>
            </a:pPr>
            <a:r>
              <a:rPr sz="1100" b="1" i="0" dirty="0">
                <a:solidFill>
                  <a:srgbClr val="243741"/>
                </a:solidFill>
                <a:latin typeface="Calibri"/>
              </a:rPr>
              <a:t>(a)</a:t>
            </a:r>
            <a:r>
              <a:rPr sz="1100" b="0" i="0" dirty="0">
                <a:solidFill>
                  <a:srgbClr val="243741"/>
                </a:solidFill>
                <a:latin typeface="Calibri"/>
              </a:rPr>
              <a:t> Loss sits where 10 predicts — the co-located coordinator loses &lt; 2 %; the routers farthest from the sniffer lose most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1" i="0" dirty="0">
                <a:solidFill>
                  <a:srgbClr val="243741"/>
                </a:solidFill>
                <a:latin typeface="Calibri"/>
              </a:rPr>
              <a:t>(b)</a:t>
            </a:r>
            <a:r>
              <a:rPr sz="1100" b="0" i="0" dirty="0">
                <a:solidFill>
                  <a:srgbClr val="243741"/>
                </a:solidFill>
                <a:latin typeface="Calibri"/>
              </a:rPr>
              <a:t> A device uplink is followed by a hub push within 1 s in </a:t>
            </a:r>
            <a:r>
              <a:rPr sz="1100" b="1" i="0" dirty="0">
                <a:solidFill>
                  <a:srgbClr val="243741"/>
                </a:solidFill>
                <a:latin typeface="Calibri"/>
              </a:rPr>
              <a:t>77 %</a:t>
            </a:r>
            <a:r>
              <a:rPr sz="1100" b="0" i="0" dirty="0">
                <a:solidFill>
                  <a:srgbClr val="243741"/>
                </a:solidFill>
                <a:latin typeface="Calibri"/>
              </a:rPr>
              <a:t> of cases vs </a:t>
            </a:r>
            <a:r>
              <a:rPr sz="1100" b="1" i="0" dirty="0">
                <a:solidFill>
                  <a:srgbClr val="243741"/>
                </a:solidFill>
                <a:latin typeface="Calibri"/>
              </a:rPr>
              <a:t>36 %</a:t>
            </a:r>
            <a:r>
              <a:rPr sz="1100" b="0" i="0" dirty="0">
                <a:solidFill>
                  <a:srgbClr val="243741"/>
                </a:solidFill>
                <a:latin typeface="Calibri"/>
              </a:rPr>
              <a:t> at a random instant — real </a:t>
            </a:r>
            <a:r>
              <a:rPr sz="1100" b="0" i="0" dirty="0" err="1">
                <a:solidFill>
                  <a:srgbClr val="243741"/>
                </a:solidFill>
                <a:latin typeface="Calibri"/>
              </a:rPr>
              <a:t>radio→IP</a:t>
            </a:r>
            <a:r>
              <a:rPr sz="1100" b="0" i="0" dirty="0">
                <a:solidFill>
                  <a:srgbClr val="243741"/>
                </a:solidFill>
                <a:latin typeface="Calibri"/>
              </a:rPr>
              <a:t> coupling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1" i="0" dirty="0">
                <a:solidFill>
                  <a:srgbClr val="243741"/>
                </a:solidFill>
                <a:latin typeface="Calibri"/>
              </a:rPr>
              <a:t>(c)</a:t>
            </a:r>
            <a:r>
              <a:rPr sz="1100" b="0" i="0" dirty="0">
                <a:solidFill>
                  <a:srgbClr val="243741"/>
                </a:solidFill>
                <a:latin typeface="Calibri"/>
              </a:rPr>
              <a:t> Per-class conservation ratio transfers across topologies within ≈ 10 %; 3,544 orphan ACKs recovered, CRC failures 4.3%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Analysis 2 — attacks on real traffic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graphicFrame>
        <p:nvGraphicFramePr>
          <p:cNvPr id="1048599" name="Table 10485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903776"/>
              </p:ext>
            </p:extLst>
          </p:nvPr>
        </p:nvGraphicFramePr>
        <p:xfrm>
          <a:off x="566928" y="1005840"/>
          <a:ext cx="7315195" cy="3221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93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Calibri"/>
                        </a:rPr>
                        <a:t>Attack (2.1)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Episodes detected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Topology A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Topology B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Median latency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Attribution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Episodes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3741"/>
                          </a:solidFill>
                          <a:latin typeface="Calibri"/>
                        </a:rPr>
                        <a:t>Leak (exfiltration)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10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3741"/>
                          </a:solidFill>
                          <a:latin typeface="Calibri"/>
                        </a:rPr>
                        <a:t>Change (tamper)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42 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3741"/>
                          </a:solidFill>
                          <a:latin typeface="Calibri"/>
                        </a:rPr>
                        <a:t>Forge (spoofed frames)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26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3741"/>
                          </a:solidFill>
                          <a:latin typeface="Calibri"/>
                        </a:rPr>
                        <a:t>Delay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50 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3741"/>
                          </a:solidFill>
                          <a:latin typeface="Calibri"/>
                        </a:rPr>
                        <a:t>Swap (misattribution)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50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3741"/>
                          </a:solidFill>
                          <a:latin typeface="Calibri"/>
                        </a:rPr>
                        <a:t>Invent (fabrication)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72 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43741"/>
                          </a:solidFill>
                          <a:latin typeface="Calibri"/>
                        </a:rPr>
                        <a:t>Hide (suppression)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50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43741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48600" name="Rounded Rectangle 1048599"/>
          <p:cNvSpPr/>
          <p:nvPr/>
        </p:nvSpPr>
        <p:spPr>
          <a:xfrm>
            <a:off x="8138160" y="1005840"/>
            <a:ext cx="3639312" cy="3218688"/>
          </a:xfrm>
          <a:prstGeom prst="roundRect">
            <a:avLst>
              <a:gd name="adj" fmla="val 8000"/>
            </a:avLst>
          </a:prstGeom>
          <a:solidFill>
            <a:srgbClr val="F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1" name="TextBox 1048600"/>
          <p:cNvSpPr txBox="1"/>
          <p:nvPr/>
        </p:nvSpPr>
        <p:spPr>
          <a:xfrm>
            <a:off x="8275320" y="1097280"/>
            <a:ext cx="3383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1.00 in 10 s</a:t>
            </a:r>
          </a:p>
        </p:txBody>
      </p:sp>
      <p:sp>
        <p:nvSpPr>
          <p:cNvPr id="1048602" name="TextBox 1048601"/>
          <p:cNvSpPr txBox="1"/>
          <p:nvPr/>
        </p:nvSpPr>
        <p:spPr>
          <a:xfrm>
            <a:off x="8275320" y="1627631"/>
            <a:ext cx="33832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exfiltration episodes caught, both topologies</a:t>
            </a:r>
          </a:p>
        </p:txBody>
      </p:sp>
      <p:sp>
        <p:nvSpPr>
          <p:cNvPr id="1048603" name="TextBox 1048602"/>
          <p:cNvSpPr txBox="1"/>
          <p:nvPr/>
        </p:nvSpPr>
        <p:spPr>
          <a:xfrm>
            <a:off x="8275320" y="2103120"/>
            <a:ext cx="3383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0.56</a:t>
            </a:r>
          </a:p>
        </p:txBody>
      </p:sp>
      <p:sp>
        <p:nvSpPr>
          <p:cNvPr id="1048604" name="TextBox 1048603"/>
          <p:cNvSpPr txBox="1"/>
          <p:nvPr/>
        </p:nvSpPr>
        <p:spPr>
          <a:xfrm>
            <a:off x="8275320" y="2633472"/>
            <a:ext cx="33832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spoofed-frame episodes caught with no RSSI</a:t>
            </a:r>
          </a:p>
        </p:txBody>
      </p:sp>
      <p:sp>
        <p:nvSpPr>
          <p:cNvPr id="1048605" name="TextBox 1048604"/>
          <p:cNvSpPr txBox="1"/>
          <p:nvPr/>
        </p:nvSpPr>
        <p:spPr>
          <a:xfrm>
            <a:off x="8275320" y="3108960"/>
            <a:ext cx="3383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1" i="0">
                <a:solidFill>
                  <a:srgbClr val="B8114F"/>
                </a:solidFill>
                <a:latin typeface="Calibri"/>
              </a:rPr>
              <a:t>21 / 43 min</a:t>
            </a:r>
          </a:p>
        </p:txBody>
      </p:sp>
      <p:sp>
        <p:nvSpPr>
          <p:cNvPr id="1048606" name="TextBox 1048605"/>
          <p:cNvSpPr txBox="1"/>
          <p:nvPr/>
        </p:nvSpPr>
        <p:spPr>
          <a:xfrm>
            <a:off x="8275320" y="3639312"/>
            <a:ext cx="33832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50" b="0" i="0">
                <a:solidFill>
                  <a:srgbClr val="5F6B73"/>
                </a:solidFill>
                <a:latin typeface="Calibri"/>
              </a:rPr>
              <a:t>benign alerts on held-out real traffic</a:t>
            </a:r>
          </a:p>
        </p:txBody>
      </p:sp>
      <p:sp>
        <p:nvSpPr>
          <p:cNvPr id="1048607" name="TextBox 1048606"/>
          <p:cNvSpPr txBox="1"/>
          <p:nvPr/>
        </p:nvSpPr>
        <p:spPr>
          <a:xfrm>
            <a:off x="566928" y="4434840"/>
            <a:ext cx="11210544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 dirty="0">
                <a:solidFill>
                  <a:srgbClr val="243741"/>
                </a:solidFill>
                <a:latin typeface="Calibri"/>
              </a:rPr>
              <a:t>Exfiltration</a:t>
            </a:r>
            <a:r>
              <a:rPr sz="1150" b="0" i="0" dirty="0">
                <a:solidFill>
                  <a:srgbClr val="243741"/>
                </a:solidFill>
                <a:latin typeface="Calibri"/>
              </a:rPr>
              <a:t> is caught every time within 10 s — egress to a host never seen at commissioning is unambiguous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 dirty="0">
                <a:solidFill>
                  <a:srgbClr val="243741"/>
                </a:solidFill>
                <a:latin typeface="Calibri"/>
              </a:rPr>
              <a:t>Spoofed frames</a:t>
            </a:r>
            <a:r>
              <a:rPr sz="1150" b="0" i="0" dirty="0">
                <a:solidFill>
                  <a:srgbClr val="243741"/>
                </a:solidFill>
                <a:latin typeface="Calibri"/>
              </a:rPr>
              <a:t> are caught without RSSI via the link-layer form (counter discontinuity, duplicate ACKs) — no added benign alerts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 dirty="0">
                <a:solidFill>
                  <a:srgbClr val="243741"/>
                </a:solidFill>
                <a:latin typeface="Calibri"/>
              </a:rPr>
              <a:t>Hide / delay / swap / invent</a:t>
            </a:r>
            <a:r>
              <a:rPr sz="1150" b="0" i="0" dirty="0">
                <a:solidFill>
                  <a:srgbClr val="243741"/>
                </a:solidFill>
                <a:latin typeface="Calibri"/>
              </a:rPr>
              <a:t> land near half — episodes are 1–3 min and the 60 s horizon + 3-of-5 persistence cost 40–70 s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 dirty="0">
                <a:solidFill>
                  <a:srgbClr val="243741"/>
                </a:solidFill>
                <a:latin typeface="Calibri"/>
              </a:rPr>
              <a:t>Benign</a:t>
            </a:r>
            <a:r>
              <a:rPr sz="1150" b="0" i="0" dirty="0">
                <a:solidFill>
                  <a:srgbClr val="243741"/>
                </a:solidFill>
                <a:latin typeface="Calibri"/>
              </a:rPr>
              <a:t>: 21 alerts in 43 min, traced to 13–16 min commissioning windows; 14 % of windows reported degraded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 dirty="0">
                <a:solidFill>
                  <a:srgbClr val="243741"/>
                </a:solidFill>
                <a:latin typeface="Calibri"/>
              </a:rPr>
              <a:t>Lower bounds</a:t>
            </a:r>
            <a:r>
              <a:rPr sz="1150" b="0" i="0" dirty="0">
                <a:solidFill>
                  <a:srgbClr val="243741"/>
                </a:solidFill>
                <a:latin typeface="Calibri"/>
              </a:rPr>
              <a:t>: ZIOTP's IP side is an app's batched </a:t>
            </a:r>
            <a:r>
              <a:rPr sz="1150" b="0" i="0" dirty="0" err="1">
                <a:solidFill>
                  <a:srgbClr val="243741"/>
                </a:solidFill>
                <a:latin typeface="Calibri"/>
              </a:rPr>
              <a:t>websocket</a:t>
            </a:r>
            <a:r>
              <a:rPr sz="1150" b="0" i="0" dirty="0">
                <a:solidFill>
                  <a:srgbClr val="243741"/>
                </a:solidFill>
                <a:latin typeface="Calibri"/>
              </a:rPr>
              <a:t>, not the MQTT / cloud telemetry path the design targets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Analysis 3 — baselines and SOTA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graphicFrame>
        <p:nvGraphicFramePr>
          <p:cNvPr id="1048599" name="Table 1048598"/>
          <p:cNvGraphicFramePr>
            <a:graphicFrameLocks noGrp="1"/>
          </p:cNvGraphicFramePr>
          <p:nvPr/>
        </p:nvGraphicFramePr>
        <p:xfrm>
          <a:off x="566928" y="1005840"/>
          <a:ext cx="11210544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Episode detection (simulated testbed, C = 0.95)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hide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invent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swap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delay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leak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forge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False alerts / day (benign)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Ours: rules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Ours: rules + R-GCN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(a) IP-only NIDS (IsolationForest, flow-based)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(c) radio witness ablated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(d) RSSI/LQI ablated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600" name="TextBox 1048599"/>
          <p:cNvSpPr txBox="1"/>
          <p:nvPr/>
        </p:nvSpPr>
        <p:spPr>
          <a:xfrm>
            <a:off x="566928" y="3429000"/>
            <a:ext cx="11210544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>
                <a:solidFill>
                  <a:srgbClr val="243741"/>
                </a:solidFill>
                <a:latin typeface="Calibri"/>
              </a:rPr>
              <a:t>IP-only NIDS</a:t>
            </a:r>
            <a:r>
              <a:rPr sz="1150" b="0" i="0">
                <a:solidFill>
                  <a:srgbClr val="243741"/>
                </a:solidFill>
                <a:latin typeface="Calibri"/>
              </a:rPr>
              <a:t> — the standard position — sees nothing: a compromised hub's egress is well-formed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>
                <a:solidFill>
                  <a:srgbClr val="243741"/>
                </a:solidFill>
                <a:latin typeface="Calibri"/>
              </a:rPr>
              <a:t>Without the radio witness</a:t>
            </a:r>
            <a:r>
              <a:rPr sz="1150" b="0" i="0">
                <a:solidFill>
                  <a:srgbClr val="243741"/>
                </a:solidFill>
                <a:latin typeface="Calibri"/>
              </a:rPr>
              <a:t> only the IP-visible attacks remain (exfiltration, a length-changing tamper)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>
                <a:solidFill>
                  <a:srgbClr val="243741"/>
                </a:solidFill>
                <a:latin typeface="Calibri"/>
              </a:rPr>
              <a:t>Without RSSI/LQI</a:t>
            </a:r>
            <a:r>
              <a:rPr sz="1150" b="0" i="0">
                <a:solidFill>
                  <a:srgbClr val="243741"/>
                </a:solidFill>
                <a:latin typeface="Calibri"/>
              </a:rPr>
              <a:t> forgery drops 0.89 → 0.11 and nothing else changes — the physical layer isolates the forging adversary</a:t>
            </a:r>
          </a:p>
          <a:p>
            <a:pPr marL="201168" indent="-182880" algn="l">
              <a:spcAft>
                <a:spcPts val="300"/>
              </a:spcAft>
              <a:buChar char="•"/>
            </a:pPr>
            <a:r>
              <a:rPr sz="1150" b="1" i="0">
                <a:solidFill>
                  <a:srgbClr val="243741"/>
                </a:solidFill>
                <a:latin typeface="Calibri"/>
              </a:rPr>
              <a:t>R-GCN residual</a:t>
            </a:r>
            <a:r>
              <a:rPr sz="1150" b="0" i="0">
                <a:solidFill>
                  <a:srgbClr val="243741"/>
                </a:solidFill>
                <a:latin typeface="Calibri"/>
              </a:rPr>
              <a:t>: same detection, hide latency 58 → 35 s, but benign alerts 12 → 49 / day — secondary until calibrated on real data</a:t>
            </a:r>
          </a:p>
        </p:txBody>
      </p:sp>
      <p:sp>
        <p:nvSpPr>
          <p:cNvPr id="1048601" name="TextBox 1048600"/>
          <p:cNvSpPr txBox="1"/>
          <p:nvPr/>
        </p:nvSpPr>
        <p:spPr>
          <a:xfrm>
            <a:off x="566928" y="4846320"/>
            <a:ext cx="60350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 dirty="0">
                <a:solidFill>
                  <a:srgbClr val="B8114F"/>
                </a:solidFill>
                <a:latin typeface="Calibri"/>
              </a:rPr>
              <a:t>Cross-topology transfer vs. the published SOTA ( real data)</a:t>
            </a:r>
          </a:p>
        </p:txBody>
      </p:sp>
      <p:graphicFrame>
        <p:nvGraphicFramePr>
          <p:cNvPr id="1048602" name="Table 1048601"/>
          <p:cNvGraphicFramePr>
            <a:graphicFrameLocks noGrp="1"/>
          </p:cNvGraphicFramePr>
          <p:nvPr/>
        </p:nvGraphicFramePr>
        <p:xfrm>
          <a:off x="566928" y="5166360"/>
          <a:ext cx="6035040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Device class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A: reports / uplink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B: reports / uplink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Published fingerprint (ZIOTP paper)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bulb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device type F1 0.95 → 0.74 across topologies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socket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device ID F1 0.89 → 0.41 across topologies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741"/>
                          </a:solidFill>
                          <a:latin typeface="Calibri"/>
                        </a:rPr>
                        <a:t>motion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43741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43741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243741"/>
                          </a:solidFill>
                          <a:latin typeface="Calibri"/>
                        </a:rPr>
                        <a:t>battery devices worst affected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603" name="TextBox 1048602"/>
          <p:cNvSpPr txBox="1"/>
          <p:nvPr/>
        </p:nvSpPr>
        <p:spPr>
          <a:xfrm>
            <a:off x="6812280" y="4937760"/>
            <a:ext cx="4965192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43741"/>
                </a:solidFill>
                <a:latin typeface="Calibri"/>
              </a:rPr>
              <a:t>Conservation ratio holds within ≈ 10 % across topologies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43741"/>
                </a:solidFill>
                <a:latin typeface="Calibri"/>
              </a:rPr>
              <a:t>Relay structure differs completely between A and B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43741"/>
                </a:solidFill>
                <a:latin typeface="Calibri"/>
              </a:rPr>
              <a:t>The paper's fingerprints collapse on the same data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43741"/>
                </a:solidFill>
                <a:latin typeface="Calibri"/>
              </a:rPr>
              <a:t>A behavioural invariant survives what breaks a fingerprint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Analysis 4 — detection floor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pic>
        <p:nvPicPr>
          <p:cNvPr id="1048599" name="Picture 1048598" descr="detection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960120"/>
            <a:ext cx="11210544" cy="3086961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graphicFrame>
        <p:nvGraphicFramePr>
          <p:cNvPr id="1048600" name="Table 1048599"/>
          <p:cNvGraphicFramePr>
            <a:graphicFrameLocks noGrp="1"/>
          </p:cNvGraphicFramePr>
          <p:nvPr/>
        </p:nvGraphicFramePr>
        <p:xfrm>
          <a:off x="566928" y="4251960"/>
          <a:ext cx="3931918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42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 \ f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741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0.38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43741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8601" name="TextBox 1048600"/>
          <p:cNvSpPr txBox="1"/>
          <p:nvPr/>
        </p:nvSpPr>
        <p:spPr>
          <a:xfrm>
            <a:off x="566928" y="5833872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>
                <a:solidFill>
                  <a:srgbClr val="5F6B73"/>
                </a:solidFill>
                <a:latin typeface="Calibri"/>
              </a:rPr>
              <a:t>Suppression episodes detected vs. fraction suppressed f, T = 5 s (simulated)</a:t>
            </a:r>
          </a:p>
        </p:txBody>
      </p:sp>
      <p:sp>
        <p:nvSpPr>
          <p:cNvPr id="1048602" name="TextBox 1048601"/>
          <p:cNvSpPr txBox="1"/>
          <p:nvPr/>
        </p:nvSpPr>
        <p:spPr>
          <a:xfrm>
            <a:off x="4754880" y="4206240"/>
            <a:ext cx="7022592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400"/>
              </a:spcAft>
              <a:buChar char="•"/>
            </a:pPr>
            <a:r>
              <a:rPr sz="1150" b="0" i="0">
                <a:solidFill>
                  <a:srgbClr val="243741"/>
                </a:solidFill>
                <a:latin typeface="Calibri"/>
              </a:rPr>
              <a:t>Detection rises with f and with C: at C = 0.99 half of the f = 0.1 episodes are caught</a:t>
            </a:r>
          </a:p>
          <a:p>
            <a:pPr marL="201168" indent="-182880" algn="l">
              <a:spcAft>
                <a:spcPts val="400"/>
              </a:spcAft>
              <a:buChar char="•"/>
            </a:pPr>
            <a:r>
              <a:rPr sz="1150" b="0" i="0">
                <a:solidFill>
                  <a:srgbClr val="243741"/>
                </a:solidFill>
                <a:latin typeface="Calibri"/>
              </a:rPr>
              <a:t>At C = 0.80 suppression below f ≈ 0.6 is largely invisible; loss widens the tolerance band</a:t>
            </a:r>
          </a:p>
          <a:p>
            <a:pPr marL="201168" indent="-182880" algn="l">
              <a:spcAft>
                <a:spcPts val="400"/>
              </a:spcAft>
              <a:buChar char="•"/>
            </a:pPr>
            <a:r>
              <a:rPr sz="1150" b="0" i="0">
                <a:solidFill>
                  <a:srgbClr val="243741"/>
                </a:solidFill>
                <a:latin typeface="Calibri"/>
              </a:rPr>
              <a:t>T barely matters once the evidence horizon is fixed — only latency grows with T</a:t>
            </a:r>
          </a:p>
          <a:p>
            <a:pPr marL="201168" indent="-182880" algn="l">
              <a:spcAft>
                <a:spcPts val="400"/>
              </a:spcAft>
              <a:buChar char="•"/>
            </a:pPr>
            <a:r>
              <a:rPr sz="1150" b="0" i="0">
                <a:solidFill>
                  <a:srgbClr val="243741"/>
                </a:solidFill>
                <a:latin typeface="Calibri"/>
              </a:rPr>
              <a:t>Stays on the simulator: a floor needs hours at controlled C and f; 43 min of real pairs cannot</a:t>
            </a:r>
          </a:p>
          <a:p>
            <a:pPr marL="201168" indent="-182880" algn="l">
              <a:spcAft>
                <a:spcPts val="400"/>
              </a:spcAft>
              <a:buChar char="•"/>
            </a:pPr>
            <a:r>
              <a:rPr sz="1150" b="0" i="0">
                <a:solidFill>
                  <a:srgbClr val="243741"/>
                </a:solidFill>
                <a:latin typeface="Calibri"/>
              </a:rPr>
              <a:t>Real anchor: measured C = 0.85–0.96 on ZIOTP puts the real operating point on the middle curves</a:t>
            </a:r>
          </a:p>
          <a:p>
            <a:pPr marL="201168" indent="-182880" algn="l">
              <a:spcAft>
                <a:spcPts val="400"/>
              </a:spcAft>
              <a:buChar char="•"/>
            </a:pPr>
            <a:r>
              <a:rPr sz="1150" b="0" i="0">
                <a:solidFill>
                  <a:srgbClr val="243741"/>
                </a:solidFill>
                <a:latin typeface="Calibri"/>
              </a:rPr>
              <a:t>This is the design's promise — a floor as a function of C and T, not a completeness claim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Analysis 5 — live dashboard, real data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pic>
        <p:nvPicPr>
          <p:cNvPr id="1048599" name="Picture 1048598" descr="9ad60b41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05840"/>
            <a:ext cx="6537960" cy="3340403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sp>
        <p:nvSpPr>
          <p:cNvPr id="1048600" name="TextBox 1048599"/>
          <p:cNvSpPr txBox="1"/>
          <p:nvPr/>
        </p:nvSpPr>
        <p:spPr>
          <a:xfrm>
            <a:off x="566928" y="4389120"/>
            <a:ext cx="6537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>
                <a:solidFill>
                  <a:srgbClr val="5F6B73"/>
                </a:solidFill>
                <a:latin typeface="Calibri"/>
              </a:rPr>
              <a:t>python real_main.py --root ZIOTP2025 --topology A --scenario mixed   →   http://127.0.0.1:8000/</a:t>
            </a:r>
          </a:p>
        </p:txBody>
      </p:sp>
      <p:sp>
        <p:nvSpPr>
          <p:cNvPr id="1048601" name="TextBox 1048600"/>
          <p:cNvSpPr txBox="1"/>
          <p:nvPr/>
        </p:nvSpPr>
        <p:spPr>
          <a:xfrm>
            <a:off x="566928" y="4709160"/>
            <a:ext cx="65379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43741"/>
                </a:solidFill>
                <a:latin typeface="Calibri"/>
              </a:rPr>
              <a:t>Same engine and dashboard as the simulator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43741"/>
                </a:solidFill>
                <a:latin typeface="Calibri"/>
              </a:rPr>
              <a:t>Banner switches: REAL CAPTURES (green) vs SIMULATED TESTBED (amber)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>
                <a:solidFill>
                  <a:srgbClr val="243741"/>
                </a:solidFill>
                <a:latin typeface="Calibri"/>
              </a:rPr>
              <a:t>The audience never has to take the data source on trust</a:t>
            </a:r>
          </a:p>
        </p:txBody>
      </p:sp>
      <p:pic>
        <p:nvPicPr>
          <p:cNvPr id="1048602" name="Picture 1048601" descr="72bff189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005840"/>
            <a:ext cx="4507992" cy="2266588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sp>
        <p:nvSpPr>
          <p:cNvPr id="1048603" name="TextBox 1048602"/>
          <p:cNvSpPr txBox="1"/>
          <p:nvPr/>
        </p:nvSpPr>
        <p:spPr>
          <a:xfrm>
            <a:off x="7269480" y="3310128"/>
            <a:ext cx="450799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>
                <a:solidFill>
                  <a:srgbClr val="5F6B73"/>
                </a:solidFill>
                <a:latin typeface="Calibri"/>
              </a:rPr>
              <a:t>Recent windows: injected leak confirmed as gateway / conservation</a:t>
            </a:r>
          </a:p>
        </p:txBody>
      </p:sp>
      <p:sp>
        <p:nvSpPr>
          <p:cNvPr id="1048604" name="TextBox 1048603"/>
          <p:cNvSpPr txBox="1"/>
          <p:nvPr/>
        </p:nvSpPr>
        <p:spPr>
          <a:xfrm>
            <a:off x="7269480" y="3657600"/>
            <a:ext cx="4507992" cy="13942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 dirty="0">
                <a:solidFill>
                  <a:srgbClr val="243741"/>
                </a:solidFill>
                <a:latin typeface="Calibri"/>
              </a:rPr>
              <a:t>Both sides real: CC2531 radio + hub </a:t>
            </a:r>
            <a:r>
              <a:rPr sz="1100" b="0" i="0" dirty="0" err="1">
                <a:solidFill>
                  <a:srgbClr val="243741"/>
                </a:solidFill>
                <a:latin typeface="Calibri"/>
              </a:rPr>
              <a:t>tcpdump</a:t>
            </a:r>
            <a:r>
              <a:rPr sz="1100" b="0" i="0" dirty="0">
                <a:solidFill>
                  <a:srgbClr val="243741"/>
                </a:solidFill>
                <a:latin typeface="Calibri"/>
              </a:rPr>
              <a:t> (ZIOTP A)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 dirty="0">
                <a:solidFill>
                  <a:srgbClr val="243741"/>
                </a:solidFill>
                <a:latin typeface="Calibri"/>
              </a:rPr>
              <a:t>Green banner names the captures being replayed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 dirty="0">
                <a:solidFill>
                  <a:srgbClr val="243741"/>
                </a:solidFill>
                <a:latin typeface="Calibri"/>
              </a:rPr>
              <a:t>Cards: decision, frames, records, completeness C, alerts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 dirty="0">
                <a:solidFill>
                  <a:srgbClr val="243741"/>
                </a:solidFill>
                <a:latin typeface="Calibri"/>
              </a:rPr>
              <a:t>Per-device invariant health over the rolling horizon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 dirty="0">
                <a:solidFill>
                  <a:srgbClr val="243741"/>
                </a:solidFill>
                <a:latin typeface="Calibri"/>
              </a:rPr>
              <a:t> alerts: observed vs learned band, persistence 3 of 5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 dirty="0">
                <a:solidFill>
                  <a:srgbClr val="243741"/>
                </a:solidFill>
                <a:latin typeface="Calibri"/>
              </a:rPr>
              <a:t>Injected mixed: hide → invent → forge → leak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100" b="0" i="0" dirty="0">
                <a:solidFill>
                  <a:srgbClr val="243741"/>
                </a:solidFill>
                <a:latin typeface="Calibri"/>
              </a:rPr>
              <a:t>Purple = degraded, cannot verify (real sniffer loss)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Analysis 6 — pipeline runs (terminal)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pic>
        <p:nvPicPr>
          <p:cNvPr id="1048599" name="Picture 1048598" descr="a5b8a33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05840"/>
            <a:ext cx="5577840" cy="1816448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sp>
        <p:nvSpPr>
          <p:cNvPr id="1048600" name="TextBox 1048599"/>
          <p:cNvSpPr txBox="1"/>
          <p:nvPr/>
        </p:nvSpPr>
        <p:spPr>
          <a:xfrm>
            <a:off x="566928" y="2852928"/>
            <a:ext cx="5577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>
                <a:solidFill>
                  <a:srgbClr val="5F6B73"/>
                </a:solidFill>
                <a:latin typeface="Calibri"/>
              </a:rPr>
              <a:t>R1: 91 captures parsed — CRC fails, relay fraction, completeness C, ACKed uplinks</a:t>
            </a:r>
          </a:p>
        </p:txBody>
      </p:sp>
      <p:pic>
        <p:nvPicPr>
          <p:cNvPr id="1048601" name="Picture 1048600" descr="3f5f86b2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00400"/>
            <a:ext cx="5577840" cy="2217170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sp>
        <p:nvSpPr>
          <p:cNvPr id="1048602" name="TextBox 1048601"/>
          <p:cNvSpPr txBox="1"/>
          <p:nvPr/>
        </p:nvSpPr>
        <p:spPr>
          <a:xfrm>
            <a:off x="566928" y="5440680"/>
            <a:ext cx="5577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>
                <a:solidFill>
                  <a:srgbClr val="5F6B73"/>
                </a:solidFill>
                <a:latin typeface="Calibri"/>
              </a:rPr>
              <a:t>R2: 3-fold commissioning — signatures, attribution counts, alerts vs learned bands</a:t>
            </a:r>
          </a:p>
        </p:txBody>
      </p:sp>
      <p:pic>
        <p:nvPicPr>
          <p:cNvPr id="1048603" name="Picture 1048602" descr="9946b885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005840"/>
            <a:ext cx="5422392" cy="1364800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sp>
        <p:nvSpPr>
          <p:cNvPr id="1048604" name="TextBox 1048603"/>
          <p:cNvSpPr txBox="1"/>
          <p:nvPr/>
        </p:nvSpPr>
        <p:spPr>
          <a:xfrm>
            <a:off x="6355080" y="2395728"/>
            <a:ext cx="5422392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>
                <a:solidFill>
                  <a:srgbClr val="5F6B73"/>
                </a:solidFill>
                <a:latin typeface="Calibri"/>
              </a:rPr>
              <a:t>real_main.py: 14.9 min of real pairs commissioned in 10 s; every push ≈ 40 ± 20 B</a:t>
            </a:r>
          </a:p>
        </p:txBody>
      </p:sp>
      <p:pic>
        <p:nvPicPr>
          <p:cNvPr id="1048605" name="Picture 1048604" descr="57564076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880360"/>
            <a:ext cx="5422392" cy="1575520"/>
          </a:xfrm>
          <a:prstGeom prst="rect">
            <a:avLst/>
          </a:prstGeom>
          <a:ln w="9525">
            <a:solidFill>
              <a:srgbClr val="C8CDD2"/>
            </a:solidFill>
          </a:ln>
        </p:spPr>
      </p:pic>
      <p:sp>
        <p:nvSpPr>
          <p:cNvPr id="1048606" name="TextBox 1048605"/>
          <p:cNvSpPr txBox="1"/>
          <p:nvPr/>
        </p:nvSpPr>
        <p:spPr>
          <a:xfrm>
            <a:off x="6355080" y="4480560"/>
            <a:ext cx="542239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1" dirty="0">
                <a:solidFill>
                  <a:srgbClr val="5F6B73"/>
                </a:solidFill>
                <a:latin typeface="Calibri"/>
              </a:rPr>
              <a:t>verify_capture.py on a </a:t>
            </a:r>
            <a:r>
              <a:rPr sz="1000" b="0" i="1" dirty="0" err="1">
                <a:solidFill>
                  <a:srgbClr val="5F6B73"/>
                </a:solidFill>
                <a:latin typeface="Calibri"/>
              </a:rPr>
              <a:t>pcap</a:t>
            </a:r>
            <a:r>
              <a:rPr sz="1000" b="0" i="1" dirty="0">
                <a:solidFill>
                  <a:srgbClr val="5F6B73"/>
                </a:solidFill>
                <a:latin typeface="Calibri"/>
              </a:rPr>
              <a:t> pair: trailer detected, 37 windows,  alerts with bands</a:t>
            </a:r>
          </a:p>
        </p:txBody>
      </p:sp>
      <p:sp>
        <p:nvSpPr>
          <p:cNvPr id="1048607" name="TextBox 1048606"/>
          <p:cNvSpPr txBox="1"/>
          <p:nvPr/>
        </p:nvSpPr>
        <p:spPr>
          <a:xfrm>
            <a:off x="6355080" y="4846320"/>
            <a:ext cx="5422392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01168" indent="-182880" algn="l">
              <a:spcAft>
                <a:spcPts val="200"/>
              </a:spcAft>
              <a:buChar char="•"/>
            </a:pPr>
            <a:r>
              <a:rPr sz="1050" b="0" i="0">
                <a:solidFill>
                  <a:srgbClr val="5F6B73"/>
                </a:solidFill>
                <a:latin typeface="Calibri"/>
              </a:rPr>
              <a:t>Reproduce: python scripts/ziotp_experiments.py --root ../ZIOTP2025 (≈ 4 min)</a:t>
            </a:r>
          </a:p>
          <a:p>
            <a:pPr marL="201168" indent="-182880" algn="l">
              <a:spcAft>
                <a:spcPts val="200"/>
              </a:spcAft>
              <a:buChar char="•"/>
            </a:pPr>
            <a:r>
              <a:rPr sz="1050" b="0" i="0">
                <a:solidFill>
                  <a:srgbClr val="5F6B73"/>
                </a:solidFill>
                <a:latin typeface="Calibri"/>
              </a:rPr>
              <a:t>python -m pytest tests → 18 pass, 4 of them against the dataset's ground truth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 Line (Plan)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sp>
        <p:nvSpPr>
          <p:cNvPr id="1048599" name="Rectangle 1048598"/>
          <p:cNvSpPr/>
          <p:nvPr/>
        </p:nvSpPr>
        <p:spPr>
          <a:xfrm>
            <a:off x="585216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0" name="TextBox 1048599"/>
          <p:cNvSpPr txBox="1"/>
          <p:nvPr/>
        </p:nvSpPr>
        <p:spPr>
          <a:xfrm>
            <a:off x="566928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W1</a:t>
            </a:r>
          </a:p>
        </p:txBody>
      </p:sp>
      <p:sp>
        <p:nvSpPr>
          <p:cNvPr id="1048601" name="Rectangle 1048600"/>
          <p:cNvSpPr/>
          <p:nvPr/>
        </p:nvSpPr>
        <p:spPr>
          <a:xfrm>
            <a:off x="1285875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2" name="TextBox 1048601"/>
          <p:cNvSpPr txBox="1"/>
          <p:nvPr/>
        </p:nvSpPr>
        <p:spPr>
          <a:xfrm>
            <a:off x="1267587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W2</a:t>
            </a:r>
          </a:p>
        </p:txBody>
      </p:sp>
      <p:sp>
        <p:nvSpPr>
          <p:cNvPr id="1048603" name="Rectangle 1048602"/>
          <p:cNvSpPr/>
          <p:nvPr/>
        </p:nvSpPr>
        <p:spPr>
          <a:xfrm>
            <a:off x="1986534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4" name="TextBox 1048603"/>
          <p:cNvSpPr txBox="1"/>
          <p:nvPr/>
        </p:nvSpPr>
        <p:spPr>
          <a:xfrm>
            <a:off x="1968245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W3</a:t>
            </a:r>
          </a:p>
        </p:txBody>
      </p:sp>
      <p:sp>
        <p:nvSpPr>
          <p:cNvPr id="1048605" name="Rectangle 1048604"/>
          <p:cNvSpPr/>
          <p:nvPr/>
        </p:nvSpPr>
        <p:spPr>
          <a:xfrm>
            <a:off x="2687193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6" name="TextBox 1048605"/>
          <p:cNvSpPr txBox="1"/>
          <p:nvPr/>
        </p:nvSpPr>
        <p:spPr>
          <a:xfrm>
            <a:off x="2668905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1048607" name="Rectangle 1048606"/>
          <p:cNvSpPr/>
          <p:nvPr/>
        </p:nvSpPr>
        <p:spPr>
          <a:xfrm>
            <a:off x="3387852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08" name="TextBox 1048607"/>
          <p:cNvSpPr txBox="1"/>
          <p:nvPr/>
        </p:nvSpPr>
        <p:spPr>
          <a:xfrm>
            <a:off x="3369564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1048609" name="Rectangle 1048608"/>
          <p:cNvSpPr/>
          <p:nvPr/>
        </p:nvSpPr>
        <p:spPr>
          <a:xfrm>
            <a:off x="4088510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10" name="TextBox 1048609"/>
          <p:cNvSpPr txBox="1"/>
          <p:nvPr/>
        </p:nvSpPr>
        <p:spPr>
          <a:xfrm>
            <a:off x="4070223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1048611" name="Rectangle 1048610"/>
          <p:cNvSpPr/>
          <p:nvPr/>
        </p:nvSpPr>
        <p:spPr>
          <a:xfrm>
            <a:off x="4789170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12" name="TextBox 1048611"/>
          <p:cNvSpPr txBox="1"/>
          <p:nvPr/>
        </p:nvSpPr>
        <p:spPr>
          <a:xfrm>
            <a:off x="4770882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1048613" name="Rectangle 1048612"/>
          <p:cNvSpPr/>
          <p:nvPr/>
        </p:nvSpPr>
        <p:spPr>
          <a:xfrm>
            <a:off x="5489828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14" name="TextBox 1048613"/>
          <p:cNvSpPr txBox="1"/>
          <p:nvPr/>
        </p:nvSpPr>
        <p:spPr>
          <a:xfrm>
            <a:off x="5471541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1048615" name="Rectangle 1048614"/>
          <p:cNvSpPr/>
          <p:nvPr/>
        </p:nvSpPr>
        <p:spPr>
          <a:xfrm>
            <a:off x="6190488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16" name="TextBox 1048615"/>
          <p:cNvSpPr txBox="1"/>
          <p:nvPr/>
        </p:nvSpPr>
        <p:spPr>
          <a:xfrm>
            <a:off x="6172200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1048617" name="Rectangle 1048616"/>
          <p:cNvSpPr/>
          <p:nvPr/>
        </p:nvSpPr>
        <p:spPr>
          <a:xfrm>
            <a:off x="6891147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18" name="TextBox 1048617"/>
          <p:cNvSpPr txBox="1"/>
          <p:nvPr/>
        </p:nvSpPr>
        <p:spPr>
          <a:xfrm>
            <a:off x="6872859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1048619" name="Rectangle 1048618"/>
          <p:cNvSpPr/>
          <p:nvPr/>
        </p:nvSpPr>
        <p:spPr>
          <a:xfrm>
            <a:off x="7591805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20" name="TextBox 1048619"/>
          <p:cNvSpPr txBox="1"/>
          <p:nvPr/>
        </p:nvSpPr>
        <p:spPr>
          <a:xfrm>
            <a:off x="7573517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W11</a:t>
            </a:r>
          </a:p>
        </p:txBody>
      </p:sp>
      <p:sp>
        <p:nvSpPr>
          <p:cNvPr id="1048621" name="Rectangle 1048620"/>
          <p:cNvSpPr/>
          <p:nvPr/>
        </p:nvSpPr>
        <p:spPr>
          <a:xfrm>
            <a:off x="8292464" y="1143000"/>
            <a:ext cx="664083" cy="384048"/>
          </a:xfrm>
          <a:prstGeom prst="rect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22" name="TextBox 1048621"/>
          <p:cNvSpPr txBox="1"/>
          <p:nvPr/>
        </p:nvSpPr>
        <p:spPr>
          <a:xfrm>
            <a:off x="8274176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FFFFFF"/>
                </a:solidFill>
                <a:latin typeface="Calibri"/>
              </a:rPr>
              <a:t>W12</a:t>
            </a:r>
          </a:p>
        </p:txBody>
      </p:sp>
      <p:sp>
        <p:nvSpPr>
          <p:cNvPr id="1048623" name="Rectangle 1048622"/>
          <p:cNvSpPr/>
          <p:nvPr/>
        </p:nvSpPr>
        <p:spPr>
          <a:xfrm>
            <a:off x="8993124" y="1143000"/>
            <a:ext cx="664083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C8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24" name="TextBox 1048623"/>
          <p:cNvSpPr txBox="1"/>
          <p:nvPr/>
        </p:nvSpPr>
        <p:spPr>
          <a:xfrm>
            <a:off x="8974836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5F6B73"/>
                </a:solidFill>
                <a:latin typeface="Calibri"/>
              </a:rPr>
              <a:t>W13</a:t>
            </a:r>
          </a:p>
        </p:txBody>
      </p:sp>
      <p:sp>
        <p:nvSpPr>
          <p:cNvPr id="1048625" name="Rectangle 1048624"/>
          <p:cNvSpPr/>
          <p:nvPr/>
        </p:nvSpPr>
        <p:spPr>
          <a:xfrm>
            <a:off x="9693782" y="1143000"/>
            <a:ext cx="664083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C8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26" name="TextBox 1048625"/>
          <p:cNvSpPr txBox="1"/>
          <p:nvPr/>
        </p:nvSpPr>
        <p:spPr>
          <a:xfrm>
            <a:off x="9675494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5F6B73"/>
                </a:solidFill>
                <a:latin typeface="Calibri"/>
              </a:rPr>
              <a:t>W14</a:t>
            </a:r>
          </a:p>
        </p:txBody>
      </p:sp>
      <p:sp>
        <p:nvSpPr>
          <p:cNvPr id="1048627" name="Rectangle 1048626"/>
          <p:cNvSpPr/>
          <p:nvPr/>
        </p:nvSpPr>
        <p:spPr>
          <a:xfrm>
            <a:off x="10394441" y="1143000"/>
            <a:ext cx="664083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C8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28" name="TextBox 1048627"/>
          <p:cNvSpPr txBox="1"/>
          <p:nvPr/>
        </p:nvSpPr>
        <p:spPr>
          <a:xfrm>
            <a:off x="10376153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5F6B73"/>
                </a:solidFill>
                <a:latin typeface="Calibri"/>
              </a:rPr>
              <a:t>W15</a:t>
            </a:r>
          </a:p>
        </p:txBody>
      </p:sp>
      <p:sp>
        <p:nvSpPr>
          <p:cNvPr id="1048629" name="Rectangle 1048628"/>
          <p:cNvSpPr/>
          <p:nvPr/>
        </p:nvSpPr>
        <p:spPr>
          <a:xfrm>
            <a:off x="11095101" y="1143000"/>
            <a:ext cx="664083" cy="384048"/>
          </a:xfrm>
          <a:prstGeom prst="rect">
            <a:avLst/>
          </a:prstGeom>
          <a:solidFill>
            <a:srgbClr val="F2F4F6"/>
          </a:solidFill>
          <a:ln w="12700">
            <a:solidFill>
              <a:srgbClr val="C8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8630" name="TextBox 1048629"/>
          <p:cNvSpPr txBox="1"/>
          <p:nvPr/>
        </p:nvSpPr>
        <p:spPr>
          <a:xfrm>
            <a:off x="11076813" y="1197864"/>
            <a:ext cx="70065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50" b="1" i="0">
                <a:solidFill>
                  <a:srgbClr val="5F6B73"/>
                </a:solidFill>
                <a:latin typeface="Calibri"/>
              </a:rPr>
              <a:t>W16</a:t>
            </a:r>
          </a:p>
        </p:txBody>
      </p:sp>
      <p:sp>
        <p:nvSpPr>
          <p:cNvPr id="1048631" name="TextBox 1048630"/>
          <p:cNvSpPr txBox="1"/>
          <p:nvPr/>
        </p:nvSpPr>
        <p:spPr>
          <a:xfrm>
            <a:off x="566928" y="1600200"/>
            <a:ext cx="8412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 i="0">
                <a:solidFill>
                  <a:srgbClr val="B8114F"/>
                </a:solidFill>
                <a:latin typeface="Calibri"/>
              </a:rPr>
              <a:t>◄ completed (weeks 1–12)</a:t>
            </a:r>
          </a:p>
        </p:txBody>
      </p:sp>
      <p:sp>
        <p:nvSpPr>
          <p:cNvPr id="1048632" name="TextBox 1048631"/>
          <p:cNvSpPr txBox="1"/>
          <p:nvPr/>
        </p:nvSpPr>
        <p:spPr>
          <a:xfrm>
            <a:off x="8979407" y="1600200"/>
            <a:ext cx="279806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00" b="1" i="0">
                <a:solidFill>
                  <a:srgbClr val="5F6B73"/>
                </a:solidFill>
                <a:latin typeface="Calibri"/>
              </a:rPr>
              <a:t>planned (weeks 13–16) ►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41D405-B15B-9512-E1F6-C0CB8E7C68EA}"/>
              </a:ext>
            </a:extLst>
          </p:cNvPr>
          <p:cNvGrpSpPr/>
          <p:nvPr/>
        </p:nvGrpSpPr>
        <p:grpSpPr>
          <a:xfrm>
            <a:off x="389647" y="2377439"/>
            <a:ext cx="11210544" cy="2103121"/>
            <a:chOff x="566928" y="4251959"/>
            <a:chExt cx="11210544" cy="2103121"/>
          </a:xfrm>
        </p:grpSpPr>
        <p:sp>
          <p:nvSpPr>
            <p:cNvPr id="1048647" name="TextBox 1048646"/>
            <p:cNvSpPr txBox="1"/>
            <p:nvPr/>
          </p:nvSpPr>
          <p:spPr>
            <a:xfrm>
              <a:off x="1618488" y="4251959"/>
              <a:ext cx="10149840" cy="50292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1100" b="0" i="0" dirty="0">
                  <a:solidFill>
                    <a:srgbClr val="243741"/>
                  </a:solidFill>
                  <a:latin typeface="Calibri"/>
                </a:rPr>
                <a:t>Real data: ZIOTP2025 parsers, mesh-aware loss accounting, attack injection, transfer study, dashboard, mid review</a:t>
              </a:r>
            </a:p>
          </p:txBody>
        </p:sp>
        <p:sp>
          <p:nvSpPr>
            <p:cNvPr id="1048650" name="TextBox 1048649"/>
            <p:cNvSpPr txBox="1"/>
            <p:nvPr/>
          </p:nvSpPr>
          <p:spPr>
            <a:xfrm>
              <a:off x="1618488" y="4818888"/>
              <a:ext cx="10149840" cy="50292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1100" b="0" i="0" dirty="0">
                  <a:solidFill>
                    <a:srgbClr val="243741"/>
                  </a:solidFill>
                  <a:latin typeface="Calibri"/>
                </a:rPr>
                <a:t>Own testbed: nRF52840 witness + Home Assistant + IP tap on the MQTT / cloud path; hours of commissioning; RSSI form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A79CDC-452D-80E2-43BC-00C82569B3F7}"/>
                </a:ext>
              </a:extLst>
            </p:cNvPr>
            <p:cNvGrpSpPr/>
            <p:nvPr/>
          </p:nvGrpSpPr>
          <p:grpSpPr>
            <a:xfrm>
              <a:off x="566928" y="4266566"/>
              <a:ext cx="960120" cy="1636776"/>
              <a:chOff x="566928" y="4233672"/>
              <a:chExt cx="960120" cy="1636776"/>
            </a:xfrm>
          </p:grpSpPr>
          <p:sp>
            <p:nvSpPr>
              <p:cNvPr id="1048645" name="Rectangle 1048644"/>
              <p:cNvSpPr/>
              <p:nvPr/>
            </p:nvSpPr>
            <p:spPr>
              <a:xfrm>
                <a:off x="566928" y="4233672"/>
                <a:ext cx="960120" cy="502920"/>
              </a:xfrm>
              <a:prstGeom prst="rect">
                <a:avLst/>
              </a:prstGeom>
              <a:solidFill>
                <a:srgbClr val="B8114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048646" name="TextBox 1048645"/>
              <p:cNvSpPr txBox="1"/>
              <p:nvPr/>
            </p:nvSpPr>
            <p:spPr>
              <a:xfrm>
                <a:off x="566928" y="4343400"/>
                <a:ext cx="960120" cy="320040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ctr">
                  <a:spcAft>
                    <a:spcPts val="400"/>
                  </a:spcAft>
                  <a:buNone/>
                </a:pPr>
                <a:r>
                  <a:rPr sz="1050" b="1" i="0" dirty="0">
                    <a:solidFill>
                      <a:srgbClr val="FFFFFF"/>
                    </a:solidFill>
                    <a:latin typeface="Calibri"/>
                  </a:rPr>
                  <a:t>W11–12</a:t>
                </a:r>
              </a:p>
            </p:txBody>
          </p:sp>
          <p:sp>
            <p:nvSpPr>
              <p:cNvPr id="1048648" name="Rectangle 1048647"/>
              <p:cNvSpPr/>
              <p:nvPr/>
            </p:nvSpPr>
            <p:spPr>
              <a:xfrm>
                <a:off x="566928" y="4800600"/>
                <a:ext cx="960120" cy="502920"/>
              </a:xfrm>
              <a:prstGeom prst="rect">
                <a:avLst/>
              </a:prstGeom>
              <a:solidFill>
                <a:srgbClr val="F2F4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048649" name="TextBox 1048648"/>
              <p:cNvSpPr txBox="1"/>
              <p:nvPr/>
            </p:nvSpPr>
            <p:spPr>
              <a:xfrm>
                <a:off x="566928" y="4910328"/>
                <a:ext cx="960120" cy="320040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ctr">
                  <a:spcAft>
                    <a:spcPts val="400"/>
                  </a:spcAft>
                  <a:buNone/>
                </a:pPr>
                <a:r>
                  <a:rPr sz="1050" b="1" i="0">
                    <a:solidFill>
                      <a:srgbClr val="5F6B73"/>
                    </a:solidFill>
                    <a:latin typeface="Calibri"/>
                  </a:rPr>
                  <a:t>W13–14</a:t>
                </a:r>
              </a:p>
            </p:txBody>
          </p:sp>
          <p:sp>
            <p:nvSpPr>
              <p:cNvPr id="1048651" name="Rectangle 1048650"/>
              <p:cNvSpPr/>
              <p:nvPr/>
            </p:nvSpPr>
            <p:spPr>
              <a:xfrm>
                <a:off x="566928" y="5367528"/>
                <a:ext cx="960120" cy="502920"/>
              </a:xfrm>
              <a:prstGeom prst="rect">
                <a:avLst/>
              </a:prstGeom>
              <a:solidFill>
                <a:srgbClr val="F2F4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048652" name="TextBox 1048651"/>
              <p:cNvSpPr txBox="1"/>
              <p:nvPr/>
            </p:nvSpPr>
            <p:spPr>
              <a:xfrm>
                <a:off x="566928" y="5477256"/>
                <a:ext cx="960120" cy="320040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ctr">
                  <a:spcAft>
                    <a:spcPts val="400"/>
                  </a:spcAft>
                  <a:buNone/>
                </a:pPr>
                <a:r>
                  <a:rPr sz="1050" b="1" i="0">
                    <a:solidFill>
                      <a:srgbClr val="5F6B73"/>
                    </a:solidFill>
                    <a:latin typeface="Calibri"/>
                  </a:rPr>
                  <a:t>W15–16</a:t>
                </a:r>
              </a:p>
            </p:txBody>
          </p:sp>
        </p:grpSp>
        <p:sp>
          <p:nvSpPr>
            <p:cNvPr id="1048653" name="TextBox 1048652"/>
            <p:cNvSpPr txBox="1"/>
            <p:nvPr/>
          </p:nvSpPr>
          <p:spPr>
            <a:xfrm>
              <a:off x="1618488" y="5385816"/>
              <a:ext cx="10149840" cy="50292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1100" b="0" i="0">
                  <a:solidFill>
                    <a:srgbClr val="243741"/>
                  </a:solidFill>
                  <a:latin typeface="Calibri"/>
                </a:rPr>
                <a:t>Controlled lying translator on the real hub → adversarial paired corpus; real detection floor; final report + paper</a:t>
              </a:r>
            </a:p>
          </p:txBody>
        </p:sp>
        <p:sp>
          <p:nvSpPr>
            <p:cNvPr id="1048654" name="TextBox 1048653"/>
            <p:cNvSpPr txBox="1"/>
            <p:nvPr/>
          </p:nvSpPr>
          <p:spPr>
            <a:xfrm>
              <a:off x="566928" y="5943600"/>
              <a:ext cx="11210544" cy="41148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1150" b="1" i="0" dirty="0">
                  <a:solidFill>
                    <a:srgbClr val="B8114F"/>
                  </a:solidFill>
                  <a:latin typeface="Calibri"/>
                </a:rPr>
                <a:t>Current status:</a:t>
              </a:r>
              <a:r>
                <a:rPr sz="1150" b="0" i="0" dirty="0">
                  <a:solidFill>
                    <a:srgbClr val="B8114F"/>
                  </a:solidFill>
                  <a:latin typeface="Calibri"/>
                </a:rPr>
                <a:t> engine complete, validated on real captures  ·  </a:t>
              </a:r>
              <a:r>
                <a:rPr sz="1150" b="1" i="0" dirty="0">
                  <a:solidFill>
                    <a:srgbClr val="B8114F"/>
                  </a:solidFill>
                  <a:latin typeface="Calibri"/>
                </a:rPr>
                <a:t>Next:</a:t>
              </a:r>
              <a:r>
                <a:rPr sz="1150" b="0" i="0" dirty="0">
                  <a:solidFill>
                    <a:srgbClr val="B8114F"/>
                  </a:solidFill>
                  <a:latin typeface="Calibri"/>
                </a:rPr>
                <a:t> the testbed — no public dataset has a hub that actually lies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p:sp>
        <p:nvSpPr>
          <p:cNvPr id="1048598" name="TextBox 1048597"/>
          <p:cNvSpPr txBox="1"/>
          <p:nvPr/>
        </p:nvSpPr>
        <p:spPr>
          <a:xfrm>
            <a:off x="2971800" y="6492240"/>
            <a:ext cx="6711696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Cross-Layer Verification of an Untrusted IoT Gateway</a:t>
            </a:r>
          </a:p>
        </p:txBody>
      </p:sp>
      <p:sp>
        <p:nvSpPr>
          <p:cNvPr id="1048599" name="TextBox 1048598"/>
          <p:cNvSpPr txBox="1"/>
          <p:nvPr/>
        </p:nvSpPr>
        <p:spPr>
          <a:xfrm>
            <a:off x="566928" y="1005840"/>
            <a:ext cx="11210544" cy="5212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[1]  S. Marti, T. Giuli, K. Lai, M. Baker, “Mitigating routing misbehavior in mobile ad hoc networks,” ACM MobiCom, 2000.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[2]  C. Karlof, D. Wagner, “Secure routing in wireless sensor networks: attacks and countermeasures,” Ad Hoc Networks 1(2–3), 2003.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[3]  B. Przydatek, D. Song, A. Perrig, “SIA: Secure information aggregation in sensor networks,” ACM SenSys, 2003.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[4]  D. Faria, D. Cheriton, “Detecting identity-based attacks in wireless networks using signalprints,” ACM WiSe, 2006.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[5]  D.-G. Akestoridis, M. Harishankar, M. Weber, P. Tague, “Zigator: Analyzing the security of Zigbee-enabled smart homes,” ACM WiSec, 2020.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[6]  W. Zhang et al., “HoMonit: Monitoring smart home apps from encrypted traffic,” ACM CCS, 2018.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[7]  Y. Meng et al., “IoTGaze: IoT security enforcement via wireless context analysis,” IEEE INFOCOM, 2020.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[8]  S. Birnbach, S. Eberz, I. Martinovic, “Peeves: Physical event verification in smart homes,” ACM CCS, 2019.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[9]  C. Fu, Q. Zeng, X. Du, “HAWatcher: Semantics-aware anomaly detection for appified smart homes,” USENIX Security, 2021.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[10]  A. Boiano et al., “Analyzing Zigbee traffic: datasets, classification and storage trade-offs,” arXiv:2602.03140, 2026 (ZIOTP2025).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[11]  N. Keleşoğlu, Ł. Sobczak, “ZigBeeNet: Decrypted Zigbee IoT network traffic dataset in smart home environment,” Appl. Sci. 14(23), 2024.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[12]  Check Point Research, CVE-2020-6007 (Philips Hue Bridge), 2020; Cisco Talos, Samsung SmartThings Hub vulnerabilities, 2018.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[13]  E. Ronen, A. Shamir, A.-O. Weingarten, C. O'Flynn, “IoT goes nuclear: Creating a ZigBee chain reaction,” IEEE S&amp;P, 2017.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[14]  CVE-2023-27482, Home Assistant Supervisor authentication bypass, 2023.</a:t>
            </a:r>
          </a:p>
          <a:p>
            <a:pPr algn="l">
              <a:spcAft>
                <a:spcPts val="500"/>
              </a:spcAft>
              <a:buNone/>
            </a:pPr>
            <a:r>
              <a:rPr sz="1150" b="0" i="0">
                <a:solidFill>
                  <a:srgbClr val="243741"/>
                </a:solidFill>
                <a:latin typeface="Calibri"/>
              </a:rPr>
              <a:t>[15]  M. Schlichtkrull et al., “Modeling relational data with graph convolutional networks,” ESWC, 2018 (R-GCN).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LightSeed_2SEEDS">
      <a:dk1>
        <a:srgbClr val="000000"/>
      </a:dk1>
      <a:lt1>
        <a:srgbClr val="FFFFFF"/>
      </a:lt1>
      <a:dk2>
        <a:srgbClr val="243741"/>
      </a:dk2>
      <a:lt2>
        <a:srgbClr val="E2E5E8"/>
      </a:lt2>
      <a:accent1>
        <a:srgbClr val="BB9D7E"/>
      </a:accent1>
      <a:accent2>
        <a:srgbClr val="C59791"/>
      </a:accent2>
      <a:accent3>
        <a:srgbClr val="A5A27B"/>
      </a:accent3>
      <a:accent4>
        <a:srgbClr val="74ADA7"/>
      </a:accent4>
      <a:accent5>
        <a:srgbClr val="7EA7BB"/>
      </a:accent5>
      <a:accent6>
        <a:srgbClr val="7E8DBB"/>
      </a:accent6>
      <a:hlink>
        <a:srgbClr val="6184A9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4202</Words>
  <Application>Microsoft Office PowerPoint</Application>
  <PresentationFormat>Widescreen</PresentationFormat>
  <Paragraphs>564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Batang</vt:lpstr>
      <vt:lpstr>Aptos</vt:lpstr>
      <vt:lpstr>Aptos Display</vt:lpstr>
      <vt:lpstr>Arial</vt:lpstr>
      <vt:lpstr>Arial Narrow</vt:lpstr>
      <vt:lpstr>Avenir Next LT Pro Light</vt:lpstr>
      <vt:lpstr>Calibri</vt:lpstr>
      <vt:lpstr>Georgia</vt:lpstr>
      <vt:lpstr>Segoe UI</vt:lpstr>
      <vt:lpstr>Times New Roman</vt:lpstr>
      <vt:lpstr>AlignmentVTI</vt:lpstr>
      <vt:lpstr>office theme</vt:lpstr>
      <vt:lpstr>PowerPoint Presentation</vt:lpstr>
      <vt:lpstr>Outline</vt:lpstr>
      <vt:lpstr>INTRODUCTION</vt:lpstr>
      <vt:lpstr>Problem Definition</vt:lpstr>
      <vt:lpstr>Literature Review Summary (1/2)</vt:lpstr>
      <vt:lpstr>Literature Review Summary (2/2)</vt:lpstr>
      <vt:lpstr>Research Gap</vt:lpstr>
      <vt:lpstr>Methodology</vt:lpstr>
      <vt:lpstr>Design / Architecture</vt:lpstr>
      <vt:lpstr>Algorithms 1 — invariants and decision</vt:lpstr>
      <vt:lpstr>Algorithms 2 — learning, training, testing</vt:lpstr>
      <vt:lpstr>Result Analysis 1 — the real captures</vt:lpstr>
      <vt:lpstr>Result Analysis 2 — attacks on real traffic</vt:lpstr>
      <vt:lpstr>Result Analysis 3 — baselines and SOTA</vt:lpstr>
      <vt:lpstr>Result Analysis 4 — detection floor</vt:lpstr>
      <vt:lpstr>Result Analysis 5 — live dashboard, real data</vt:lpstr>
      <vt:lpstr>Result Analysis 6 — pipeline runs (terminal)</vt:lpstr>
      <vt:lpstr>Project Time Line (Plan)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Sunitha EV</dc:creator>
  <cp:lastModifiedBy>BHASKAR SL</cp:lastModifiedBy>
  <cp:revision>5</cp:revision>
  <dcterms:created xsi:type="dcterms:W3CDTF">2025-02-05T17:27:38Z</dcterms:created>
  <dcterms:modified xsi:type="dcterms:W3CDTF">2026-10-02T16:36:34Z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5c928ae763254d69a2b58066deaeb341_23</vt:lpwstr>
  </property>
</Properties>
</file>